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2460"/>
  </p:normalViewPr>
  <p:slideViewPr>
    <p:cSldViewPr snapToGrid="0" snapToObjects="1">
      <p:cViewPr varScale="1">
        <p:scale>
          <a:sx n="109" d="100"/>
          <a:sy n="109" d="100"/>
        </p:scale>
        <p:origin x="7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78433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132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100" b="1">
                <a:solidFill>
                  <a:srgbClr val="181E28"/>
                </a:solidFill>
                <a:latin typeface="Aptos"/>
              </a:defRPr>
            </a:pPr>
            <a:r>
              <a:t>Queue &amp; Circular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676C74"/>
                </a:solidFill>
                <a:latin typeface="Aptos"/>
              </a:defRPr>
            </a:pPr>
            <a:r>
              <a:t>FIFO, array implementation, and my wrap-around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3931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81E28"/>
                </a:solidFill>
                <a:latin typeface="Aptos"/>
              </a:defRPr>
            </a:pPr>
            <a:r>
              <a:t>C++ Programming |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788920"/>
            <a:ext cx="804672" cy="566928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788920"/>
            <a:ext cx="804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1E2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8" y="2788920"/>
            <a:ext cx="804672" cy="566928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16368" y="2788920"/>
            <a:ext cx="804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1E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49056" y="2788920"/>
            <a:ext cx="804672" cy="566928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49056" y="2788920"/>
            <a:ext cx="804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81744" y="2788920"/>
            <a:ext cx="804672" cy="566928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81744" y="2788920"/>
            <a:ext cx="804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14432" y="2788920"/>
            <a:ext cx="804672" cy="566928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14432" y="2788920"/>
            <a:ext cx="804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1E2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56991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3657600"/>
            <a:ext cx="777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78433"/>
                </a:solidFill>
                <a:latin typeface="Aptos"/>
              </a:defRPr>
            </a:pPr>
            <a:r>
              <a:t>REAR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2519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456991"/>
                </a:solidFill>
                <a:latin typeface="Aptos"/>
              </a:defRPr>
            </a:pPr>
            <a:r>
              <a:t>FIFO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01 •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What is a queue?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1E28"/>
                </a:solidFill>
                <a:latin typeface="Aptos"/>
              </a:defRPr>
            </a:pPr>
            <a:r>
              <a:t>A queue works like a line of people waiting.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676C74"/>
                </a:solidFill>
                <a:latin typeface="Aptos"/>
              </a:defRPr>
            </a:pPr>
            <a:r>
              <a:t>The first person who joins the line is the first person 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63240"/>
            <a:ext cx="102412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2412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1E2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3063240"/>
            <a:ext cx="102412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3063240"/>
            <a:ext cx="102412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1E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063240"/>
            <a:ext cx="102412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3063240"/>
            <a:ext cx="102412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063240"/>
            <a:ext cx="102412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3063240"/>
            <a:ext cx="102412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56991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822191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78433"/>
                </a:solidFill>
                <a:latin typeface="Aptos"/>
              </a:defRPr>
            </a:pPr>
            <a:r>
              <a:t>REAR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1596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456991"/>
                </a:solidFill>
                <a:latin typeface="Aptos"/>
              </a:defRPr>
            </a:pPr>
            <a:r>
              <a:t>← first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31596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E78433"/>
                </a:solidFill>
                <a:latin typeface="Aptos"/>
              </a:defRPr>
            </a:pPr>
            <a:r>
              <a:t>last in 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2788920"/>
            <a:ext cx="4297680" cy="1828800"/>
          </a:xfrm>
          <a:prstGeom prst="round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3090672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E78433"/>
                </a:solidFill>
                <a:latin typeface="Aptos"/>
              </a:defRPr>
            </a:pPr>
            <a:r>
              <a:t>FIFO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017520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81E28"/>
                </a:solidFill>
                <a:latin typeface="Aptos"/>
              </a:defRPr>
            </a:pPr>
            <a:r>
              <a:t>First In</a:t>
            </a:r>
            <a:br/>
            <a:r>
              <a:t>First 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11480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My real-life example: a checkout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02 •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The main queue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572768"/>
            <a:ext cx="3246120" cy="64008"/>
          </a:xfrm>
          <a:prstGeom prst="rect">
            <a:avLst/>
          </a:prstGeom>
          <a:solidFill>
            <a:srgbClr val="456991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01368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1E28"/>
                </a:solidFill>
                <a:latin typeface="Aptos"/>
              </a:defRPr>
            </a:pPr>
            <a:r>
              <a:t>enqueue()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9572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add an item at the rear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572768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1572768"/>
            <a:ext cx="3246120" cy="6400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1801368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1E28"/>
                </a:solidFill>
                <a:latin typeface="Aptos"/>
              </a:defRPr>
            </a:pPr>
            <a:r>
              <a:t>dequeue()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9572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remove an item from the front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572768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1572768"/>
            <a:ext cx="3246120" cy="64008"/>
          </a:xfrm>
          <a:prstGeom prst="rect">
            <a:avLst/>
          </a:prstGeom>
          <a:solidFill>
            <a:srgbClr val="4A8967"/>
          </a:solidFill>
          <a:ln>
            <a:solidFill>
              <a:srgbClr val="4A8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1801368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1E28"/>
                </a:solidFill>
                <a:latin typeface="Aptos"/>
              </a:defRPr>
            </a:pPr>
            <a:r>
              <a:t>isEmpty()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9572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check if there are no 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5760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3657600"/>
            <a:ext cx="3246120" cy="64008"/>
          </a:xfrm>
          <a:prstGeom prst="rect">
            <a:avLst/>
          </a:prstGeom>
          <a:solidFill>
            <a:srgbClr val="BC4A4A"/>
          </a:solidFill>
          <a:ln>
            <a:solidFill>
              <a:srgbClr val="BC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88620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1E28"/>
                </a:solidFill>
                <a:latin typeface="Aptos"/>
              </a:defRPr>
            </a:pPr>
            <a:r>
              <a:t>isFull()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8056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check if the array is full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65760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3657600"/>
            <a:ext cx="3246120" cy="64008"/>
          </a:xfrm>
          <a:prstGeom prst="rect">
            <a:avLst/>
          </a:prstGeom>
          <a:solidFill>
            <a:srgbClr val="456991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0600" y="388620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1E28"/>
                </a:solidFill>
                <a:latin typeface="Aptos"/>
              </a:defRPr>
            </a:pPr>
            <a:r>
              <a:t>displayAll()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48056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show the current queue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65760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66760" y="3657600"/>
            <a:ext cx="3246120" cy="6400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0" y="388620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1E28"/>
                </a:solidFill>
                <a:latin typeface="Aptos"/>
              </a:defRPr>
            </a:pPr>
            <a:r>
              <a:t>front / rear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48056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track the first and last positions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03 • FIFO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Enqueue &amp; dequeue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456991"/>
                </a:solidFill>
                <a:latin typeface="Aptos"/>
              </a:defRPr>
            </a:pPr>
            <a:r>
              <a:t>ENQUEUE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Add to the rear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60320"/>
            <a:ext cx="914400" cy="50292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93391" y="2560320"/>
            <a:ext cx="914400" cy="50292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93391" y="256032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72384" y="2560320"/>
            <a:ext cx="914400" cy="50292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4" y="256032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8211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rear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060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E7843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560320"/>
            <a:ext cx="914400" cy="502920"/>
          </a:xfrm>
          <a:prstGeom prst="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256032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18211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78433"/>
                </a:solidFill>
                <a:latin typeface="Aptos"/>
              </a:defRPr>
            </a:pPr>
            <a:r>
              <a:t>new rear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0876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E78433"/>
                </a:solidFill>
                <a:latin typeface="Aptos"/>
              </a:defRPr>
            </a:pPr>
            <a:r>
              <a:t>DEQUEUE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Remove from the front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560320"/>
            <a:ext cx="914400" cy="502920"/>
          </a:xfrm>
          <a:prstGeom prst="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56032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6060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E7843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560320"/>
            <a:ext cx="914400" cy="50292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256032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08592" y="2560320"/>
            <a:ext cx="914400" cy="50292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08592" y="256032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42900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456991"/>
                </a:solidFill>
                <a:latin typeface="Aptos"/>
              </a:defRPr>
            </a:pPr>
            <a:r>
              <a:t>10 leaves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03120" y="4617720"/>
            <a:ext cx="7955279" cy="640080"/>
          </a:xfrm>
          <a:prstGeom prst="roundRect">
            <a:avLst/>
          </a:prstGeom>
          <a:solidFill>
            <a:srgbClr val="181E28"/>
          </a:solidFill>
          <a:ln>
            <a:solidFill>
              <a:srgbClr val="18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40280" y="4617720"/>
            <a:ext cx="7680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First in → first 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04 • LINEAR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Why a basic array queue has a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424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81E28"/>
                </a:solidFill>
                <a:latin typeface="Aptos"/>
              </a:defRPr>
            </a:pPr>
            <a:r>
              <a:t>With a linear array, removing items from the front can leave empty spaces behind.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743200"/>
            <a:ext cx="987552" cy="685800"/>
          </a:xfrm>
          <a:prstGeom prst="rect">
            <a:avLst/>
          </a:prstGeom>
          <a:solidFill>
            <a:srgbClr val="F9F7F2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1720" y="2743200"/>
            <a:ext cx="987552" cy="685800"/>
          </a:xfrm>
          <a:prstGeom prst="rect">
            <a:avLst/>
          </a:prstGeom>
          <a:solidFill>
            <a:srgbClr val="F9F7F2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2743200"/>
            <a:ext cx="987552" cy="68580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987552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2743200"/>
            <a:ext cx="987552" cy="68580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987552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743200"/>
            <a:ext cx="987552" cy="68580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2743200"/>
            <a:ext cx="987552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81E2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66160"/>
            <a:ext cx="9875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76C74"/>
                </a:solidFill>
                <a:latin typeface="Aptos"/>
              </a:defRPr>
            </a:pPr>
            <a:r>
              <a:t>empty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566160"/>
            <a:ext cx="9875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76C74"/>
                </a:solidFill>
                <a:latin typeface="Aptos"/>
              </a:defRPr>
            </a:pPr>
            <a:r>
              <a:t>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977639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56991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977639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78433"/>
                </a:solidFill>
                <a:latin typeface="Aptos"/>
              </a:defRPr>
            </a:pPr>
            <a:r>
              <a:t>REAR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331720"/>
            <a:ext cx="3840480" cy="2103120"/>
          </a:xfrm>
          <a:prstGeom prst="round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265176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E78433"/>
                </a:solidFill>
                <a:latin typeface="Aptos"/>
              </a:defRPr>
            </a:pPr>
            <a:r>
              <a:t>The issue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246120"/>
            <a:ext cx="3063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The front spaces are free, but a simple linear queue may not reuse them without shifting or resetting.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456991"/>
                </a:solidFill>
                <a:latin typeface="Aptos"/>
              </a:defRPr>
            </a:pPr>
            <a:r>
              <a:t>Circular queues solve this by reusing available positions.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05 • CIRCULAR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How the circular queue reuses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81E28"/>
                </a:solidFill>
                <a:latin typeface="Aptos"/>
              </a:defRPr>
            </a:pPr>
            <a:r>
              <a:t>Instead of stopping at the last array position, the rear wraps back to index 0.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1051560" cy="68580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95728"/>
            <a:ext cx="1051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76C7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743200"/>
            <a:ext cx="1051560" cy="68580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2395728"/>
            <a:ext cx="1051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76C7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743200"/>
            <a:ext cx="1051560" cy="68580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0" y="2395728"/>
            <a:ext cx="1051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76C7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79" y="2743200"/>
            <a:ext cx="1051560" cy="68580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0679" y="2395728"/>
            <a:ext cx="1051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76C7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743200"/>
            <a:ext cx="1051560" cy="68580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2395728"/>
            <a:ext cx="1051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76C7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743200"/>
            <a:ext cx="1051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81E28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743200"/>
            <a:ext cx="1051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81E28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743200"/>
            <a:ext cx="1051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79" y="2743200"/>
            <a:ext cx="1051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743200"/>
            <a:ext cx="1051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81E2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70332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78433"/>
                </a:solidFill>
                <a:latin typeface="Aptos"/>
              </a:defRPr>
            </a:pPr>
            <a:r>
              <a:t>rear moves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7700" y="4187953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78433"/>
                </a:solidFill>
                <a:latin typeface="Aptos"/>
              </a:defRPr>
            </a:pPr>
            <a:r>
              <a:rPr dirty="0"/>
              <a:t>4 → 0 →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430018"/>
            <a:ext cx="3749039" cy="2468880"/>
          </a:xfrm>
          <a:prstGeom prst="roundRect">
            <a:avLst/>
          </a:prstGeom>
          <a:solidFill>
            <a:srgbClr val="E8F3EC"/>
          </a:solidFill>
          <a:ln>
            <a:solidFill>
              <a:srgbClr val="4A8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58" y="261289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4A8967"/>
                </a:solidFill>
                <a:latin typeface="Aptos"/>
              </a:defRPr>
            </a:pPr>
            <a:r>
              <a:rPr dirty="0"/>
              <a:t>Why it helps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18" y="3128391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81E28"/>
                </a:solidFill>
                <a:latin typeface="Aptos"/>
              </a:defRPr>
            </a:pPr>
            <a:r>
              <a:rPr dirty="0"/>
              <a:t>The positions freed at the front become available again.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799" y="372618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rPr dirty="0"/>
              <a:t>This is the key difference from a basic linear array queue.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06 • WRAP-AROUND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My circular wrap-around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1E28"/>
                </a:solidFill>
                <a:latin typeface="Aptos"/>
              </a:defRPr>
            </a:pPr>
            <a:r>
              <a:t>I removed 10 and 20, then added 60 and 70.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56991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749808" cy="566928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74980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09928" y="2514600"/>
            <a:ext cx="749808" cy="566928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09928" y="2514600"/>
            <a:ext cx="74980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42616" y="2514600"/>
            <a:ext cx="749808" cy="566928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42616" y="2514600"/>
            <a:ext cx="74980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75304" y="2514600"/>
            <a:ext cx="749808" cy="566928"/>
          </a:xfrm>
          <a:prstGeom prst="rect">
            <a:avLst/>
          </a:prstGeom>
          <a:solidFill>
            <a:srgbClr val="F9F7F2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75304" y="2514600"/>
            <a:ext cx="74980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7992" y="2514600"/>
            <a:ext cx="749808" cy="566928"/>
          </a:xfrm>
          <a:prstGeom prst="rect">
            <a:avLst/>
          </a:prstGeom>
          <a:solidFill>
            <a:srgbClr val="F9F7F2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2514600"/>
            <a:ext cx="74980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5603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E7843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10312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78433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514600"/>
            <a:ext cx="749808" cy="566928"/>
          </a:xfrm>
          <a:prstGeom prst="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9320" y="2514600"/>
            <a:ext cx="74980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22008" y="2514600"/>
            <a:ext cx="749808" cy="566928"/>
          </a:xfrm>
          <a:prstGeom prst="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22008" y="2514600"/>
            <a:ext cx="74980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54696" y="2514600"/>
            <a:ext cx="749808" cy="566928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54696" y="2514600"/>
            <a:ext cx="74980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87384" y="2514600"/>
            <a:ext cx="749808" cy="566928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87384" y="2514600"/>
            <a:ext cx="74980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20072" y="2514600"/>
            <a:ext cx="749808" cy="566928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20072" y="2514600"/>
            <a:ext cx="74980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4290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78433"/>
                </a:solidFill>
                <a:latin typeface="Aptos"/>
              </a:defRPr>
            </a:pPr>
            <a:r>
              <a:t>60 → index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4290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78433"/>
                </a:solidFill>
                <a:latin typeface="Aptos"/>
              </a:defRPr>
            </a:pPr>
            <a:r>
              <a:t>70 → index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0" y="4251960"/>
            <a:ext cx="8138160" cy="749808"/>
          </a:xfrm>
          <a:prstGeom prst="roundRect">
            <a:avLst/>
          </a:prstGeom>
          <a:solidFill>
            <a:srgbClr val="181E28"/>
          </a:solidFill>
          <a:ln>
            <a:solidFill>
              <a:srgbClr val="18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48840" y="4251960"/>
            <a:ext cx="7863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Rear: index 4 → index 0 → index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349240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456991"/>
                </a:solidFill>
                <a:latin typeface="Aptos"/>
              </a:defRPr>
            </a:pPr>
            <a:r>
              <a:t>This is the circular wrap-around required in the lab.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07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How I built the circular queue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456991"/>
                </a:solidFill>
                <a:latin typeface="Aptos"/>
              </a:defRPr>
            </a:pPr>
            <a:r>
              <a:t>My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Static array with 5 positions.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35808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`start` points to the front.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48456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`end` points to the rear.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61104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`count` tracks how many items are stored.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73752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`% SIZE` makes the indexes wrap around.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508760"/>
            <a:ext cx="6903720" cy="4526280"/>
          </a:xfrm>
          <a:prstGeom prst="roundRect">
            <a:avLst/>
          </a:prstGeom>
          <a:solidFill>
            <a:srgbClr val="181E28"/>
          </a:solidFill>
          <a:ln>
            <a:solidFill>
              <a:srgbClr val="18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83480" y="1874519"/>
            <a:ext cx="608076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enlo"/>
              </a:defRPr>
            </a:pPr>
            <a:r>
              <a:t>const int SIZE = 5;</a:t>
            </a:r>
            <a:br/>
            <a:r>
              <a:t>int array[SIZE];</a:t>
            </a:r>
            <a:br/>
            <a:r>
              <a:t>int start;</a:t>
            </a:r>
            <a:br/>
            <a:r>
              <a:t>int end;</a:t>
            </a:r>
            <a:br/>
            <a:r>
              <a:t>int count;</a:t>
            </a:r>
            <a:br/>
            <a:br/>
            <a:r>
              <a:t>end = (end + 1) % SIZE;</a:t>
            </a:r>
            <a:br/>
            <a:r>
              <a:t>array[end] = value;</a:t>
            </a:r>
            <a:br/>
            <a:r>
              <a:t>count++;</a:t>
            </a:r>
            <a:br/>
            <a:br/>
            <a:r>
              <a:t>int index = (start + i) % SIZE;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5440680"/>
            <a:ext cx="6217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78433"/>
                </a:solidFill>
                <a:latin typeface="Aptos"/>
              </a:defRPr>
            </a:pPr>
            <a:r>
              <a:t>The `% SIZE` expression is what allows the index to wrap from 4 back to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08 •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My actual program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424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81E28"/>
                </a:solidFill>
                <a:latin typeface="Aptos"/>
              </a:defRPr>
            </a:pPr>
            <a:r>
              <a:t>I tested FIFO behavior, reused the freed positions, and checked underflow.</a:t>
            </a:r>
          </a:p>
        </p:txBody>
      </p:sp>
      <p:pic>
        <p:nvPicPr>
          <p:cNvPr id="9" name="Picture 8" descr="Screenshot 2026-09-22 at 2.41.3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201" y="1828800"/>
            <a:ext cx="3173598" cy="41579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5989320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456991"/>
                </a:solidFill>
                <a:latin typeface="Aptos"/>
              </a:defRPr>
            </a:pPr>
            <a:r>
              <a:t>10 &amp; 20 leave first → 60 goes to index 0 → 70 goes to index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09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What happened in my test?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548640" cy="548640"/>
          </a:xfrm>
          <a:prstGeom prst="roundRect">
            <a:avLst/>
          </a:prstGeom>
          <a:solidFill>
            <a:srgbClr val="456991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90472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Fill the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490472"/>
            <a:ext cx="795527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10, 20, 30, 40, 50 occupy indexes 0–4.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2075688"/>
            <a:ext cx="32004" cy="512064"/>
          </a:xfrm>
          <a:prstGeom prst="rect">
            <a:avLst/>
          </a:prstGeom>
          <a:solidFill>
            <a:srgbClr val="E0DDD6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2587752"/>
            <a:ext cx="548640" cy="548640"/>
          </a:xfrm>
          <a:prstGeom prst="round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587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569464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Dequeue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569464"/>
            <a:ext cx="795527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10 and 20 are removed from indexes 0 and 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154680"/>
            <a:ext cx="32004" cy="512064"/>
          </a:xfrm>
          <a:prstGeom prst="rect">
            <a:avLst/>
          </a:prstGeom>
          <a:solidFill>
            <a:srgbClr val="E0DDD6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3666744"/>
            <a:ext cx="548640" cy="548640"/>
          </a:xfrm>
          <a:prstGeom prst="roundRect">
            <a:avLst/>
          </a:prstGeom>
          <a:solidFill>
            <a:srgbClr val="4A8967"/>
          </a:solidFill>
          <a:ln>
            <a:solidFill>
              <a:srgbClr val="4A8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66674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648456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Wrap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648456"/>
            <a:ext cx="795527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60 goes to index 0 and 70 goes to index 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" y="4233672"/>
            <a:ext cx="32004" cy="512064"/>
          </a:xfrm>
          <a:prstGeom prst="rect">
            <a:avLst/>
          </a:prstGeom>
          <a:solidFill>
            <a:srgbClr val="E0DDD6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4745736"/>
            <a:ext cx="548640" cy="548640"/>
          </a:xfrm>
          <a:prstGeom prst="roundRect">
            <a:avLst/>
          </a:prstGeom>
          <a:solidFill>
            <a:srgbClr val="BC4A4A"/>
          </a:solidFill>
          <a:ln>
            <a:solidFill>
              <a:srgbClr val="BC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7457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727448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Finish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727448"/>
            <a:ext cx="795527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30, 40, 50, 60, 70 leave in FIFO order; then Underflow appears.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10 •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Where queues are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73152" cy="1737360"/>
          </a:xfrm>
          <a:prstGeom prst="rect">
            <a:avLst/>
          </a:prstGeom>
          <a:solidFill>
            <a:srgbClr val="456991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Print queues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343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The first print job waiting is handled first, so jobs are processed in arrival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73152" cy="1737360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Scheduling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4343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Tasks can wait in order and be handled from the front of the queue.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73152" cy="1737360"/>
          </a:xfrm>
          <a:prstGeom prst="rect">
            <a:avLst/>
          </a:prstGeom>
          <a:solidFill>
            <a:srgbClr val="4A8967"/>
          </a:solidFill>
          <a:ln>
            <a:solidFill>
              <a:srgbClr val="4A8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88620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Customer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34840"/>
            <a:ext cx="4343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Customers are served in the order they arrive.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73152" cy="1737360"/>
          </a:xfrm>
          <a:prstGeom prst="rect">
            <a:avLst/>
          </a:prstGeom>
          <a:solidFill>
            <a:srgbClr val="BC4A4A"/>
          </a:solidFill>
          <a:ln>
            <a:solidFill>
              <a:srgbClr val="BC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59" y="388620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Network packets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434840"/>
            <a:ext cx="4343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Packets can wait temporarily and be processed in arrival order.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11 • 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Advantages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456991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4526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FIFO behavior is simple to understand.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4526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Circular reuse avoids leaving freed positions unused.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526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Array access and index movement are straightforward.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5448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874519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BC4A4A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514600"/>
            <a:ext cx="4526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The array still has a fixed size.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291840"/>
            <a:ext cx="4526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A full queue can cause overflow.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069080"/>
            <a:ext cx="4526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The implementation needs careful start/end tracking.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12 •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81E28"/>
                </a:solidFill>
                <a:latin typeface="Aptos"/>
              </a:defRPr>
            </a:pPr>
            <a:r>
              <a:t>The circular queue made more sense once I could see the indexes move.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181E28"/>
                </a:solidFill>
                <a:latin typeface="Aptos"/>
              </a:defRPr>
            </a:pPr>
            <a:r>
              <a:t>In my test, I first filled the array, removed two items, and then reused those positions for 60 and 70. Seeing the rear move from index 4 back to index 0 helped me understand why the queue is called circular.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78433"/>
                </a:solidFill>
                <a:latin typeface="Aptos"/>
              </a:defRPr>
            </a:pPr>
            <a:r>
              <a:t>FIFO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88620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t>The oldest item leaves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78433"/>
                </a:solidFill>
                <a:latin typeface="Aptos"/>
              </a:defRPr>
            </a:pPr>
            <a:r>
              <a:t>WRAP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52628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t>The rear can reuse positions at the beginning.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78433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1663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t>The modulo operator makes the wrap-around possible.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13 •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08760"/>
            <a:ext cx="38404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7843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81912"/>
            <a:ext cx="5212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1E28"/>
                </a:solidFill>
                <a:latin typeface="Aptos"/>
              </a:defRPr>
            </a:pPr>
            <a:r>
              <a:t>Virginia Tech OpenDSA — Stack &amp;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65960"/>
            <a:ext cx="8869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6C74"/>
                </a:solidFill>
                <a:latin typeface="Aptos"/>
              </a:defRPr>
            </a:pPr>
            <a:r>
              <a:t>https://opendsa-server.cs.vt.edu/ODSA/Books/CS3S26slides/html/StackQueue.html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4320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743200"/>
            <a:ext cx="38404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7843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16352"/>
            <a:ext cx="5212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1E28"/>
                </a:solidFill>
                <a:latin typeface="Aptos"/>
              </a:defRPr>
            </a:pPr>
            <a:r>
              <a:t>Virginia Tech OpenDSA — Queue 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00400"/>
            <a:ext cx="8869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6C74"/>
                </a:solidFill>
                <a:latin typeface="Aptos"/>
              </a:defRPr>
            </a:pPr>
            <a:r>
              <a:t>https://opendsa-server.cs.vt.edu/ODSA/Books/CS3S26slides/html/Queue.html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39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977639"/>
            <a:ext cx="38404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7843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50791"/>
            <a:ext cx="5212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1E28"/>
                </a:solidFill>
                <a:latin typeface="Aptos"/>
              </a:defRPr>
            </a:pPr>
            <a:r>
              <a:t>cppreference — C++ Arrays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34840"/>
            <a:ext cx="8869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6C74"/>
                </a:solidFill>
                <a:latin typeface="Aptos"/>
              </a:defRPr>
            </a:pPr>
            <a:r>
              <a:t>https://cppreference.com/book/arrays.html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676C74"/>
                </a:solidFill>
                <a:latin typeface="Aptos"/>
              </a:defRPr>
            </a:pPr>
            <a:r>
              <a:t>These sources were used for background concepts; the examples, diagrams, code, and testing shown here are my 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1057</Words>
  <Application>Microsoft Macintosh PowerPoint</Application>
  <PresentationFormat>Widescreen</PresentationFormat>
  <Paragraphs>221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Desai, Arya Shaileshbhai</cp:lastModifiedBy>
  <cp:revision>2</cp:revision>
  <dcterms:created xsi:type="dcterms:W3CDTF">2013-01-27T09:14:16Z</dcterms:created>
  <dcterms:modified xsi:type="dcterms:W3CDTF">2026-09-22T19:48:25Z</dcterms:modified>
  <cp:category/>
</cp:coreProperties>
</file>