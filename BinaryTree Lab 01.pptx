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9"/>
  </p:normalViewPr>
  <p:slideViewPr>
    <p:cSldViewPr snapToGrid="0" snapToObjects="1">
      <p:cViewPr varScale="1">
        <p:scale>
          <a:sx n="112" d="100"/>
          <a:sy n="112" d="100"/>
        </p:scale>
        <p:origin x="600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/>
          <a:ln>
            <a:solidFill>
              <a:srgbClr val="E78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29260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E78433"/>
                </a:solidFill>
                <a:latin typeface="Aptos"/>
              </a:defRPr>
            </a:pPr>
            <a:r>
              <a:t>DATA STRUCTURES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86868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900" b="1">
                <a:solidFill>
                  <a:srgbClr val="181E28"/>
                </a:solidFill>
                <a:latin typeface="Aptos"/>
              </a:defRPr>
            </a:pPr>
            <a:r>
              <a:t>Binary Trees, BST &amp; Traversals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93392"/>
            <a:ext cx="8229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0">
                <a:solidFill>
                  <a:srgbClr val="676C74"/>
                </a:solidFill>
                <a:latin typeface="Aptos"/>
              </a:defRPr>
            </a:pPr>
            <a:r>
              <a:t>Building a BST from my own dataset and tracing three traversals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71800"/>
            <a:ext cx="3931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81E28"/>
                </a:solidFill>
                <a:latin typeface="Aptos"/>
              </a:defRPr>
            </a:pPr>
            <a:r>
              <a:t>C++ Programming | Lab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676C74"/>
                </a:solidFill>
                <a:latin typeface="Aptos"/>
              </a:defRPr>
            </a:pPr>
            <a:r>
              <a:t>Arya Desai</a:t>
            </a:r>
          </a:p>
        </p:txBody>
      </p:sp>
      <p:sp>
        <p:nvSpPr>
          <p:cNvPr id="8" name="Oval 7"/>
          <p:cNvSpPr/>
          <p:nvPr/>
        </p:nvSpPr>
        <p:spPr>
          <a:xfrm>
            <a:off x="8983980" y="2491740"/>
            <a:ext cx="502920" cy="502920"/>
          </a:xfrm>
          <a:prstGeom prst="ellipse">
            <a:avLst/>
          </a:prstGeom>
          <a:solidFill>
            <a:srgbClr val="FBEDDC"/>
          </a:solidFill>
          <a:ln w="25400">
            <a:solidFill>
              <a:srgbClr val="E78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83980" y="249174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81E28"/>
                </a:solidFill>
                <a:latin typeface="Aptos"/>
              </a:defRPr>
            </a:pPr>
            <a:r>
              <a:t>50</a:t>
            </a:r>
          </a:p>
        </p:txBody>
      </p:sp>
      <p:sp>
        <p:nvSpPr>
          <p:cNvPr id="10" name="Oval 9"/>
          <p:cNvSpPr/>
          <p:nvPr/>
        </p:nvSpPr>
        <p:spPr>
          <a:xfrm>
            <a:off x="7703819" y="3543300"/>
            <a:ext cx="502920" cy="502920"/>
          </a:xfrm>
          <a:prstGeom prst="ellipse">
            <a:avLst/>
          </a:prstGeom>
          <a:solidFill>
            <a:srgbClr val="E8EFF7"/>
          </a:solidFill>
          <a:ln w="25400"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03819" y="354330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81E28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12" name="Oval 11"/>
          <p:cNvSpPr/>
          <p:nvPr/>
        </p:nvSpPr>
        <p:spPr>
          <a:xfrm>
            <a:off x="10264140" y="3543300"/>
            <a:ext cx="502920" cy="502920"/>
          </a:xfrm>
          <a:prstGeom prst="ellipse">
            <a:avLst/>
          </a:prstGeom>
          <a:solidFill>
            <a:srgbClr val="E8EFF7"/>
          </a:solidFill>
          <a:ln w="25400"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264140" y="354330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81E28"/>
                </a:solidFill>
                <a:latin typeface="Aptos"/>
              </a:defRPr>
            </a:pPr>
            <a:r>
              <a:t>70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8138160" y="2944368"/>
            <a:ext cx="914400" cy="640080"/>
          </a:xfrm>
          <a:prstGeom prst="line">
            <a:avLst/>
          </a:prstGeom>
          <a:ln w="19050">
            <a:solidFill>
              <a:srgbClr val="E0DD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418320" y="2944368"/>
            <a:ext cx="914400" cy="640080"/>
          </a:xfrm>
          <a:prstGeom prst="line">
            <a:avLst/>
          </a:prstGeom>
          <a:ln w="19050">
            <a:solidFill>
              <a:srgbClr val="E0DD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549640" y="4617720"/>
            <a:ext cx="1371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456991"/>
                </a:solidFill>
                <a:latin typeface="Aptos"/>
              </a:defRPr>
            </a:pPr>
            <a:r>
              <a:t>BST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E78433"/>
                </a:solidFill>
                <a:latin typeface="Aptos"/>
              </a:defRPr>
            </a:pPr>
            <a:r>
              <a:t>01 •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181E28"/>
                </a:solidFill>
                <a:latin typeface="Aptos"/>
              </a:defRPr>
            </a:pPr>
            <a:r>
              <a:t>What is a binary tree?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685800" cy="41148"/>
          </a:xfrm>
          <a:prstGeom prst="rect">
            <a:avLst/>
          </a:prstGeom>
          <a:solidFill>
            <a:srgbClr val="E78433"/>
          </a:solidFill>
          <a:ln>
            <a:solidFill>
              <a:srgbClr val="E78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76C7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2743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76C74"/>
                </a:solidFill>
                <a:latin typeface="Aptos"/>
              </a:defRPr>
            </a:pPr>
            <a:r>
              <a:t>C++ Programming • Lab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510528"/>
            <a:ext cx="1645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76C74"/>
                </a:solidFill>
                <a:latin typeface="Aptos"/>
              </a:defRPr>
            </a:pPr>
            <a:r>
              <a:t>Arya Desai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81328"/>
            <a:ext cx="98755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200" b="1">
                <a:solidFill>
                  <a:srgbClr val="181E28"/>
                </a:solidFill>
                <a:latin typeface="Aptos"/>
              </a:defRPr>
            </a:pPr>
            <a:r>
              <a:t>A binary tree is a structure where each node can have at most two children.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8229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0">
                <a:solidFill>
                  <a:srgbClr val="676C74"/>
                </a:solidFill>
                <a:latin typeface="Aptos"/>
              </a:defRPr>
            </a:pPr>
            <a:r>
              <a:t>Those children are called the left child and right child.</a:t>
            </a:r>
          </a:p>
        </p:txBody>
      </p:sp>
      <p:sp>
        <p:nvSpPr>
          <p:cNvPr id="10" name="Oval 9"/>
          <p:cNvSpPr/>
          <p:nvPr/>
        </p:nvSpPr>
        <p:spPr>
          <a:xfrm>
            <a:off x="2674620" y="3406140"/>
            <a:ext cx="502920" cy="502920"/>
          </a:xfrm>
          <a:prstGeom prst="ellipse">
            <a:avLst/>
          </a:prstGeom>
          <a:solidFill>
            <a:srgbClr val="FBEDDC"/>
          </a:solidFill>
          <a:ln w="25400">
            <a:solidFill>
              <a:srgbClr val="E78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74620" y="340614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81E28"/>
                </a:solidFill>
                <a:latin typeface="Aptos"/>
              </a:defRPr>
            </a:pPr>
            <a:r>
              <a:t>50</a:t>
            </a:r>
          </a:p>
        </p:txBody>
      </p:sp>
      <p:sp>
        <p:nvSpPr>
          <p:cNvPr id="12" name="Oval 11"/>
          <p:cNvSpPr/>
          <p:nvPr/>
        </p:nvSpPr>
        <p:spPr>
          <a:xfrm>
            <a:off x="1577340" y="4549140"/>
            <a:ext cx="502920" cy="502920"/>
          </a:xfrm>
          <a:prstGeom prst="ellipse">
            <a:avLst/>
          </a:prstGeom>
          <a:solidFill>
            <a:srgbClr val="E8EFF7"/>
          </a:solidFill>
          <a:ln w="25400"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77340" y="454914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81E28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14" name="Oval 13"/>
          <p:cNvSpPr/>
          <p:nvPr/>
        </p:nvSpPr>
        <p:spPr>
          <a:xfrm>
            <a:off x="3771900" y="4549140"/>
            <a:ext cx="502920" cy="502920"/>
          </a:xfrm>
          <a:prstGeom prst="ellipse">
            <a:avLst/>
          </a:prstGeom>
          <a:solidFill>
            <a:srgbClr val="E8EFF7"/>
          </a:solidFill>
          <a:ln w="25400"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71900" y="454914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81E28"/>
                </a:solidFill>
                <a:latin typeface="Aptos"/>
              </a:defRPr>
            </a:pPr>
            <a:r>
              <a:t>70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1965960" y="3858768"/>
            <a:ext cx="822960" cy="731520"/>
          </a:xfrm>
          <a:prstGeom prst="line">
            <a:avLst/>
          </a:prstGeom>
          <a:ln w="19050">
            <a:solidFill>
              <a:srgbClr val="E0DD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063240" y="3858768"/>
            <a:ext cx="822960" cy="731520"/>
          </a:xfrm>
          <a:prstGeom prst="line">
            <a:avLst/>
          </a:prstGeom>
          <a:ln w="19050">
            <a:solidFill>
              <a:srgbClr val="E0DD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487168" y="2971800"/>
            <a:ext cx="822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E78433"/>
                </a:solidFill>
                <a:latin typeface="Aptos"/>
              </a:defRPr>
            </a:pPr>
            <a:r>
              <a:t>root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2880360"/>
            <a:ext cx="475488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63640" y="3182112"/>
            <a:ext cx="1554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456991"/>
                </a:solidFill>
                <a:latin typeface="Aptos"/>
              </a:defRPr>
            </a:pPr>
            <a:r>
              <a:t>Key terms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703320"/>
            <a:ext cx="3886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181E28"/>
                </a:solidFill>
                <a:latin typeface="Aptos"/>
              </a:defRPr>
            </a:pPr>
            <a:r>
              <a:t>Node • Root • Parent • Child • Leaf</a:t>
            </a:r>
            <a:br/>
            <a:r>
              <a:t>Left subtree • Right subtree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4572000"/>
            <a:ext cx="3840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76C74"/>
                </a:solidFill>
                <a:latin typeface="Aptos"/>
              </a:defRPr>
            </a:pPr>
            <a:r>
              <a:t>A leaf is a node with no children.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E78433"/>
                </a:solidFill>
                <a:latin typeface="Aptos"/>
              </a:defRPr>
            </a:pPr>
            <a:r>
              <a:t>02 • BST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181E28"/>
                </a:solidFill>
                <a:latin typeface="Aptos"/>
              </a:defRPr>
            </a:pPr>
            <a:r>
              <a:t>What makes a binary search tree different?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685800" cy="41148"/>
          </a:xfrm>
          <a:prstGeom prst="rect">
            <a:avLst/>
          </a:prstGeom>
          <a:solidFill>
            <a:srgbClr val="E78433"/>
          </a:solidFill>
          <a:ln>
            <a:solidFill>
              <a:srgbClr val="E78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76C7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2743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76C74"/>
                </a:solidFill>
                <a:latin typeface="Aptos"/>
              </a:defRPr>
            </a:pPr>
            <a:r>
              <a:t>C++ Programming • Lab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510528"/>
            <a:ext cx="1645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76C74"/>
                </a:solidFill>
                <a:latin typeface="Aptos"/>
              </a:defRPr>
            </a:pPr>
            <a:r>
              <a:t>Arya Desai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81328"/>
            <a:ext cx="8229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200" b="1">
                <a:solidFill>
                  <a:srgbClr val="181E28"/>
                </a:solidFill>
                <a:latin typeface="Aptos"/>
              </a:defRPr>
            </a:pPr>
            <a:r>
              <a:t>A BST adds an ordering rule to a binary tree.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40280"/>
            <a:ext cx="5029200" cy="3154680"/>
          </a:xfrm>
          <a:prstGeom prst="roundRect">
            <a:avLst/>
          </a:prstGeom>
          <a:solidFill>
            <a:srgbClr val="E8EFF7"/>
          </a:solidFill>
          <a:ln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2578608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456991"/>
                </a:solidFill>
                <a:latin typeface="Aptos"/>
              </a:defRPr>
            </a:pPr>
            <a:r>
              <a:t>For every node: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154680"/>
            <a:ext cx="40233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300" b="1">
                <a:solidFill>
                  <a:srgbClr val="181E28"/>
                </a:solidFill>
                <a:latin typeface="Aptos"/>
              </a:defRPr>
            </a:pPr>
            <a:r>
              <a:t>Smaller values → left</a:t>
            </a:r>
            <a:br/>
            <a:r>
              <a:t>Larger values → right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434840"/>
            <a:ext cx="4114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676C74"/>
                </a:solidFill>
                <a:latin typeface="Aptos"/>
              </a:defRPr>
            </a:pPr>
            <a:r>
              <a:t>Duplicate values are not inserted in my implementation.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240280"/>
            <a:ext cx="5029200" cy="3154680"/>
          </a:xfrm>
          <a:prstGeom prst="roundRect">
            <a:avLst/>
          </a:prstGeom>
          <a:solidFill>
            <a:srgbClr val="FBEDDC"/>
          </a:solidFill>
          <a:ln>
            <a:solidFill>
              <a:srgbClr val="E78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0" y="2578608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E78433"/>
                </a:solidFill>
                <a:latin typeface="Aptos"/>
              </a:defRPr>
            </a:pPr>
            <a:r>
              <a:t>In my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063240"/>
            <a:ext cx="425196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181E28"/>
                </a:solidFill>
                <a:latin typeface="Menlo"/>
              </a:defRPr>
            </a:pPr>
            <a:r>
              <a:t>if (value &lt; node-&gt;data)</a:t>
            </a:r>
            <a:br/>
            <a:r>
              <a:t>    go left</a:t>
            </a:r>
            <a:br/>
            <a:r>
              <a:t>else if (value &gt; node-&gt;data)</a:t>
            </a:r>
            <a:br/>
            <a:r>
              <a:t>    go right</a:t>
            </a:r>
            <a:br/>
            <a:r>
              <a:t>else</a:t>
            </a:r>
            <a:br/>
            <a:r>
              <a:t>    ignore duplicate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800600"/>
            <a:ext cx="38404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76C74"/>
                </a:solidFill>
                <a:latin typeface="Aptos"/>
              </a:defRPr>
            </a:pPr>
            <a:r>
              <a:t>This is the rule that builds the tree.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E78433"/>
                </a:solidFill>
                <a:latin typeface="Aptos"/>
              </a:defRPr>
            </a:pPr>
            <a:r>
              <a:t>03 • MY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181E28"/>
                </a:solidFill>
                <a:latin typeface="Aptos"/>
              </a:defRPr>
            </a:pPr>
            <a:r>
              <a:t>The values I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685800" cy="41148"/>
          </a:xfrm>
          <a:prstGeom prst="rect">
            <a:avLst/>
          </a:prstGeom>
          <a:solidFill>
            <a:srgbClr val="E78433"/>
          </a:solidFill>
          <a:ln>
            <a:solidFill>
              <a:srgbClr val="E78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76C7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2743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76C74"/>
                </a:solidFill>
                <a:latin typeface="Aptos"/>
              </a:defRPr>
            </a:pPr>
            <a:r>
              <a:t>C++ Programming • Lab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510528"/>
            <a:ext cx="1645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76C74"/>
                </a:solidFill>
                <a:latin typeface="Aptos"/>
              </a:defRPr>
            </a:pPr>
            <a:r>
              <a:t>Arya Desai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44752"/>
            <a:ext cx="8229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181E28"/>
                </a:solidFill>
                <a:latin typeface="Aptos"/>
              </a:defRPr>
            </a:pPr>
            <a:r>
              <a:t>I used 15 integers, including two duplicates.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057400"/>
            <a:ext cx="106070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2267712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181E28"/>
                </a:solidFill>
                <a:latin typeface="Aptos"/>
              </a:defRPr>
            </a:pPr>
            <a:r>
              <a:t>50   30   70   20   40   60   80   30   70   10   35   65   90   55   75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657600"/>
            <a:ext cx="4800600" cy="1508760"/>
          </a:xfrm>
          <a:prstGeom prst="roundRect">
            <a:avLst/>
          </a:prstGeom>
          <a:solidFill>
            <a:srgbClr val="FBEDDC"/>
          </a:solidFill>
          <a:ln>
            <a:solidFill>
              <a:srgbClr val="E78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34440" y="3931920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E78433"/>
                </a:solidFill>
                <a:latin typeface="Aptos"/>
              </a:defRPr>
            </a:pPr>
            <a:r>
              <a:t>Duplicates found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34840"/>
            <a:ext cx="21945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81E28"/>
                </a:solidFill>
                <a:latin typeface="Aptos"/>
              </a:defRPr>
            </a:pPr>
            <a:r>
              <a:t>30 → ignored</a:t>
            </a:r>
            <a:br/>
            <a:r>
              <a:t>70 → ignored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3657600"/>
            <a:ext cx="4800600" cy="1508760"/>
          </a:xfrm>
          <a:prstGeom prst="roundRect">
            <a:avLst/>
          </a:prstGeom>
          <a:solidFill>
            <a:srgbClr val="E8F3EC"/>
          </a:solidFill>
          <a:ln>
            <a:solidFill>
              <a:srgbClr val="4A8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0" y="3931920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4A8967"/>
                </a:solidFill>
                <a:latin typeface="Aptos"/>
              </a:defRPr>
            </a:pPr>
            <a:r>
              <a:t>Why ignore them?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434840"/>
            <a:ext cx="3931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181E28"/>
                </a:solidFill>
                <a:latin typeface="Aptos"/>
              </a:defRPr>
            </a:pPr>
            <a:r>
              <a:t>The BST rule in my program only inserts values that are smaller or larger than the current node.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E78433"/>
                </a:solidFill>
                <a:latin typeface="Aptos"/>
              </a:defRPr>
            </a:pPr>
            <a:r>
              <a:t>04 •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181E28"/>
                </a:solidFill>
                <a:latin typeface="Aptos"/>
              </a:defRPr>
            </a:pPr>
            <a:r>
              <a:t>How the BST was built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685800" cy="41148"/>
          </a:xfrm>
          <a:prstGeom prst="rect">
            <a:avLst/>
          </a:prstGeom>
          <a:solidFill>
            <a:srgbClr val="E78433"/>
          </a:solidFill>
          <a:ln>
            <a:solidFill>
              <a:srgbClr val="E78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76C74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2743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76C74"/>
                </a:solidFill>
                <a:latin typeface="Aptos"/>
              </a:defRPr>
            </a:pPr>
            <a:r>
              <a:t>C++ Programming • Lab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510528"/>
            <a:ext cx="1645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76C74"/>
                </a:solidFill>
                <a:latin typeface="Aptos"/>
              </a:defRPr>
            </a:pPr>
            <a:r>
              <a:t>Arya Desai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44752"/>
            <a:ext cx="9875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181E28"/>
                </a:solidFill>
                <a:latin typeface="Aptos"/>
              </a:defRPr>
            </a:pPr>
            <a:r>
              <a:t>The remaining values were inserted in their original order.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148840"/>
            <a:ext cx="106527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148840"/>
            <a:ext cx="102870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81E28"/>
                </a:solidFill>
                <a:latin typeface="Aptos"/>
              </a:defRPr>
            </a:pPr>
            <a:r>
              <a:t>50 → 30 → 70 → 20 → 40 → 60 → 80 → 10 → 35 → 65 → 90 → 55 → 75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520440"/>
            <a:ext cx="9875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>
                <a:solidFill>
                  <a:srgbClr val="676C74"/>
                </a:solidFill>
                <a:latin typeface="Aptos"/>
              </a:defRPr>
            </a:pPr>
            <a:r>
              <a:t>Each new value moves left or right until it finds an empty position.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520440"/>
            <a:ext cx="9875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676C74"/>
                </a:solidFill>
                <a:latin typeface="Aptos"/>
              </a:defRPr>
            </a:pPr>
            <a:r>
              <a:t>Each new value moves left or right until it finds an empty position.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3886200" y="5029200"/>
            <a:ext cx="2194560" cy="594360"/>
          </a:xfrm>
          <a:prstGeom prst="line">
            <a:avLst/>
          </a:prstGeom>
          <a:ln w="17780">
            <a:solidFill>
              <a:srgbClr val="E0DD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80760" y="5029200"/>
            <a:ext cx="2194560" cy="594360"/>
          </a:xfrm>
          <a:prstGeom prst="line">
            <a:avLst/>
          </a:prstGeom>
          <a:ln w="17780">
            <a:solidFill>
              <a:srgbClr val="E0DD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2788920" y="6080760"/>
            <a:ext cx="1097280" cy="594360"/>
          </a:xfrm>
          <a:prstGeom prst="line">
            <a:avLst/>
          </a:prstGeom>
          <a:ln w="17780">
            <a:solidFill>
              <a:srgbClr val="E0DD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886200" y="6080760"/>
            <a:ext cx="1097280" cy="594360"/>
          </a:xfrm>
          <a:prstGeom prst="line">
            <a:avLst/>
          </a:prstGeom>
          <a:ln w="17780">
            <a:solidFill>
              <a:srgbClr val="E0DD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7178040" y="6080760"/>
            <a:ext cx="1097280" cy="594360"/>
          </a:xfrm>
          <a:prstGeom prst="line">
            <a:avLst/>
          </a:prstGeom>
          <a:ln w="17780">
            <a:solidFill>
              <a:srgbClr val="E0DD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275320" y="6080760"/>
            <a:ext cx="1097280" cy="594360"/>
          </a:xfrm>
          <a:prstGeom prst="line">
            <a:avLst/>
          </a:prstGeom>
          <a:ln w="17780">
            <a:solidFill>
              <a:srgbClr val="E0DD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4434840" y="7132320"/>
            <a:ext cx="548640" cy="594359"/>
          </a:xfrm>
          <a:prstGeom prst="line">
            <a:avLst/>
          </a:prstGeom>
          <a:ln w="17780">
            <a:solidFill>
              <a:srgbClr val="E0DD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6629400" y="7132320"/>
            <a:ext cx="548640" cy="594359"/>
          </a:xfrm>
          <a:prstGeom prst="line">
            <a:avLst/>
          </a:prstGeom>
          <a:ln w="17780">
            <a:solidFill>
              <a:srgbClr val="E0DD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178040" y="7132320"/>
            <a:ext cx="548639" cy="594359"/>
          </a:xfrm>
          <a:prstGeom prst="line">
            <a:avLst/>
          </a:prstGeom>
          <a:ln w="17780">
            <a:solidFill>
              <a:srgbClr val="E0DD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8823960" y="7132320"/>
            <a:ext cx="548640" cy="594359"/>
          </a:xfrm>
          <a:prstGeom prst="line">
            <a:avLst/>
          </a:prstGeom>
          <a:ln w="17780">
            <a:solidFill>
              <a:srgbClr val="E0DD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372600" y="7132320"/>
            <a:ext cx="548640" cy="594359"/>
          </a:xfrm>
          <a:prstGeom prst="line">
            <a:avLst/>
          </a:prstGeom>
          <a:ln w="17780">
            <a:solidFill>
              <a:srgbClr val="E0DD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5829300" y="4549140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829300" y="454914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81E28"/>
                </a:solidFill>
                <a:latin typeface="Aptos"/>
              </a:defRPr>
            </a:pPr>
            <a:r>
              <a:t>50</a:t>
            </a:r>
          </a:p>
        </p:txBody>
      </p:sp>
      <p:sp>
        <p:nvSpPr>
          <p:cNvPr id="26" name="Oval 25"/>
          <p:cNvSpPr/>
          <p:nvPr/>
        </p:nvSpPr>
        <p:spPr>
          <a:xfrm>
            <a:off x="3634740" y="5600700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34740" y="560070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81E28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28" name="Oval 27"/>
          <p:cNvSpPr/>
          <p:nvPr/>
        </p:nvSpPr>
        <p:spPr>
          <a:xfrm>
            <a:off x="8023860" y="5600700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23860" y="560070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81E28"/>
                </a:solidFill>
                <a:latin typeface="Aptos"/>
              </a:defRPr>
            </a:pPr>
            <a:r>
              <a:t>70</a:t>
            </a:r>
          </a:p>
        </p:txBody>
      </p:sp>
      <p:sp>
        <p:nvSpPr>
          <p:cNvPr id="30" name="Oval 29"/>
          <p:cNvSpPr/>
          <p:nvPr/>
        </p:nvSpPr>
        <p:spPr>
          <a:xfrm>
            <a:off x="2537460" y="6652259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537460" y="6652259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81E28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32" name="Oval 31"/>
          <p:cNvSpPr/>
          <p:nvPr/>
        </p:nvSpPr>
        <p:spPr>
          <a:xfrm>
            <a:off x="4732020" y="6652259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732020" y="6652259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81E28"/>
                </a:solidFill>
                <a:latin typeface="Aptos"/>
              </a:defRPr>
            </a:pPr>
            <a:r>
              <a:t>40</a:t>
            </a:r>
          </a:p>
        </p:txBody>
      </p:sp>
      <p:sp>
        <p:nvSpPr>
          <p:cNvPr id="34" name="Oval 33"/>
          <p:cNvSpPr/>
          <p:nvPr/>
        </p:nvSpPr>
        <p:spPr>
          <a:xfrm>
            <a:off x="6926579" y="6652259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926579" y="6652259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81E28"/>
                </a:solidFill>
                <a:latin typeface="Aptos"/>
              </a:defRPr>
            </a:pPr>
            <a:r>
              <a:t>60</a:t>
            </a:r>
          </a:p>
        </p:txBody>
      </p:sp>
      <p:sp>
        <p:nvSpPr>
          <p:cNvPr id="36" name="Oval 35"/>
          <p:cNvSpPr/>
          <p:nvPr/>
        </p:nvSpPr>
        <p:spPr>
          <a:xfrm>
            <a:off x="9121140" y="6652259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21140" y="6652259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81E28"/>
                </a:solidFill>
                <a:latin typeface="Aptos"/>
              </a:defRPr>
            </a:pPr>
            <a:r>
              <a:t>80</a:t>
            </a:r>
          </a:p>
        </p:txBody>
      </p:sp>
      <p:sp>
        <p:nvSpPr>
          <p:cNvPr id="38" name="Oval 37"/>
          <p:cNvSpPr/>
          <p:nvPr/>
        </p:nvSpPr>
        <p:spPr>
          <a:xfrm>
            <a:off x="4183379" y="7703819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183379" y="7703819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81E28"/>
                </a:solidFill>
                <a:latin typeface="Aptos"/>
              </a:defRPr>
            </a:pPr>
            <a:r>
              <a:t>35</a:t>
            </a:r>
          </a:p>
        </p:txBody>
      </p:sp>
      <p:sp>
        <p:nvSpPr>
          <p:cNvPr id="40" name="Oval 39"/>
          <p:cNvSpPr/>
          <p:nvPr/>
        </p:nvSpPr>
        <p:spPr>
          <a:xfrm>
            <a:off x="6377940" y="7703819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77940" y="7703819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81E28"/>
                </a:solidFill>
                <a:latin typeface="Aptos"/>
              </a:defRPr>
            </a:pPr>
            <a:r>
              <a:t>55</a:t>
            </a:r>
          </a:p>
        </p:txBody>
      </p:sp>
      <p:sp>
        <p:nvSpPr>
          <p:cNvPr id="42" name="Oval 41"/>
          <p:cNvSpPr/>
          <p:nvPr/>
        </p:nvSpPr>
        <p:spPr>
          <a:xfrm>
            <a:off x="7475219" y="7703819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475219" y="7703819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81E28"/>
                </a:solidFill>
                <a:latin typeface="Aptos"/>
              </a:defRPr>
            </a:pPr>
            <a:r>
              <a:t>65</a:t>
            </a:r>
          </a:p>
        </p:txBody>
      </p:sp>
      <p:sp>
        <p:nvSpPr>
          <p:cNvPr id="44" name="Oval 43"/>
          <p:cNvSpPr/>
          <p:nvPr/>
        </p:nvSpPr>
        <p:spPr>
          <a:xfrm>
            <a:off x="8572500" y="7703819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572500" y="7703819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81E28"/>
                </a:solidFill>
                <a:latin typeface="Aptos"/>
              </a:defRPr>
            </a:pPr>
            <a:r>
              <a:t>75</a:t>
            </a:r>
          </a:p>
        </p:txBody>
      </p:sp>
      <p:sp>
        <p:nvSpPr>
          <p:cNvPr id="46" name="Oval 45"/>
          <p:cNvSpPr/>
          <p:nvPr/>
        </p:nvSpPr>
        <p:spPr>
          <a:xfrm>
            <a:off x="9669780" y="7703819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669780" y="7703819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81E28"/>
                </a:solidFill>
                <a:latin typeface="Aptos"/>
              </a:defRPr>
            </a:pPr>
            <a:r>
              <a:t>90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0" y="5897880"/>
            <a:ext cx="2103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456991"/>
                </a:solidFill>
                <a:latin typeface="Aptos"/>
              </a:defRPr>
            </a:pPr>
            <a:r>
              <a:t>Completed BST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E78433"/>
                </a:solidFill>
                <a:latin typeface="Aptos"/>
              </a:defRPr>
            </a:pPr>
            <a:r>
              <a:t>05 • TREE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181E28"/>
                </a:solidFill>
                <a:latin typeface="Aptos"/>
              </a:defRPr>
            </a:pPr>
            <a:r>
              <a:t>My completed BST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685800" cy="41148"/>
          </a:xfrm>
          <a:prstGeom prst="rect">
            <a:avLst/>
          </a:prstGeom>
          <a:solidFill>
            <a:srgbClr val="E78433"/>
          </a:solidFill>
          <a:ln>
            <a:solidFill>
              <a:srgbClr val="E78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76C74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2743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76C74"/>
                </a:solidFill>
                <a:latin typeface="Aptos"/>
              </a:defRPr>
            </a:pPr>
            <a:r>
              <a:t>C++ Programming • Lab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510528"/>
            <a:ext cx="1645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76C74"/>
                </a:solidFill>
                <a:latin typeface="Aptos"/>
              </a:defRPr>
            </a:pPr>
            <a:r>
              <a:t>Arya Desai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3886200" y="2057400"/>
            <a:ext cx="2194560" cy="594360"/>
          </a:xfrm>
          <a:prstGeom prst="line">
            <a:avLst/>
          </a:prstGeom>
          <a:ln w="17780">
            <a:solidFill>
              <a:srgbClr val="E0DD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080760" y="2057400"/>
            <a:ext cx="2194560" cy="594360"/>
          </a:xfrm>
          <a:prstGeom prst="line">
            <a:avLst/>
          </a:prstGeom>
          <a:ln w="17780">
            <a:solidFill>
              <a:srgbClr val="E0DD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2788920" y="3108960"/>
            <a:ext cx="1097280" cy="594360"/>
          </a:xfrm>
          <a:prstGeom prst="line">
            <a:avLst/>
          </a:prstGeom>
          <a:ln w="17780">
            <a:solidFill>
              <a:srgbClr val="E0DD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886200" y="3108960"/>
            <a:ext cx="1097280" cy="594360"/>
          </a:xfrm>
          <a:prstGeom prst="line">
            <a:avLst/>
          </a:prstGeom>
          <a:ln w="17780">
            <a:solidFill>
              <a:srgbClr val="E0DD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7178040" y="3108960"/>
            <a:ext cx="1097280" cy="594360"/>
          </a:xfrm>
          <a:prstGeom prst="line">
            <a:avLst/>
          </a:prstGeom>
          <a:ln w="17780">
            <a:solidFill>
              <a:srgbClr val="E0DD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275320" y="3108960"/>
            <a:ext cx="1097280" cy="594360"/>
          </a:xfrm>
          <a:prstGeom prst="line">
            <a:avLst/>
          </a:prstGeom>
          <a:ln w="17780">
            <a:solidFill>
              <a:srgbClr val="E0DD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434840" y="4160520"/>
            <a:ext cx="548640" cy="594360"/>
          </a:xfrm>
          <a:prstGeom prst="line">
            <a:avLst/>
          </a:prstGeom>
          <a:ln w="17780">
            <a:solidFill>
              <a:srgbClr val="E0DD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6629400" y="4160520"/>
            <a:ext cx="548640" cy="594360"/>
          </a:xfrm>
          <a:prstGeom prst="line">
            <a:avLst/>
          </a:prstGeom>
          <a:ln w="17780">
            <a:solidFill>
              <a:srgbClr val="E0DD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178040" y="4160520"/>
            <a:ext cx="548639" cy="594360"/>
          </a:xfrm>
          <a:prstGeom prst="line">
            <a:avLst/>
          </a:prstGeom>
          <a:ln w="17780">
            <a:solidFill>
              <a:srgbClr val="E0DD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8823960" y="4160520"/>
            <a:ext cx="548640" cy="594360"/>
          </a:xfrm>
          <a:prstGeom prst="line">
            <a:avLst/>
          </a:prstGeom>
          <a:ln w="17780">
            <a:solidFill>
              <a:srgbClr val="E0DD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372600" y="4160520"/>
            <a:ext cx="548640" cy="594360"/>
          </a:xfrm>
          <a:prstGeom prst="line">
            <a:avLst/>
          </a:prstGeom>
          <a:ln w="17780">
            <a:solidFill>
              <a:srgbClr val="E0DD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5829300" y="1577340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29300" y="157734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81E28"/>
                </a:solidFill>
                <a:latin typeface="Aptos"/>
              </a:defRPr>
            </a:pPr>
            <a:r>
              <a:t>50</a:t>
            </a:r>
          </a:p>
        </p:txBody>
      </p:sp>
      <p:sp>
        <p:nvSpPr>
          <p:cNvPr id="21" name="Oval 20"/>
          <p:cNvSpPr/>
          <p:nvPr/>
        </p:nvSpPr>
        <p:spPr>
          <a:xfrm>
            <a:off x="3634740" y="2628900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34740" y="262890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81E28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23" name="Oval 22"/>
          <p:cNvSpPr/>
          <p:nvPr/>
        </p:nvSpPr>
        <p:spPr>
          <a:xfrm>
            <a:off x="8023860" y="2628900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23860" y="262890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81E28"/>
                </a:solidFill>
                <a:latin typeface="Aptos"/>
              </a:defRPr>
            </a:pPr>
            <a:r>
              <a:t>70</a:t>
            </a:r>
          </a:p>
        </p:txBody>
      </p:sp>
      <p:sp>
        <p:nvSpPr>
          <p:cNvPr id="25" name="Oval 24"/>
          <p:cNvSpPr/>
          <p:nvPr/>
        </p:nvSpPr>
        <p:spPr>
          <a:xfrm>
            <a:off x="2537460" y="3680459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537460" y="3680459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81E28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27" name="Oval 26"/>
          <p:cNvSpPr/>
          <p:nvPr/>
        </p:nvSpPr>
        <p:spPr>
          <a:xfrm>
            <a:off x="4732020" y="3680459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32020" y="3680459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81E28"/>
                </a:solidFill>
                <a:latin typeface="Aptos"/>
              </a:defRPr>
            </a:pPr>
            <a:r>
              <a:t>40</a:t>
            </a:r>
          </a:p>
        </p:txBody>
      </p:sp>
      <p:sp>
        <p:nvSpPr>
          <p:cNvPr id="29" name="Oval 28"/>
          <p:cNvSpPr/>
          <p:nvPr/>
        </p:nvSpPr>
        <p:spPr>
          <a:xfrm>
            <a:off x="6926579" y="3680459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926579" y="3680459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81E28"/>
                </a:solidFill>
                <a:latin typeface="Aptos"/>
              </a:defRPr>
            </a:pPr>
            <a:r>
              <a:t>60</a:t>
            </a:r>
          </a:p>
        </p:txBody>
      </p:sp>
      <p:sp>
        <p:nvSpPr>
          <p:cNvPr id="31" name="Oval 30"/>
          <p:cNvSpPr/>
          <p:nvPr/>
        </p:nvSpPr>
        <p:spPr>
          <a:xfrm>
            <a:off x="9121140" y="3680459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21140" y="3680459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81E28"/>
                </a:solidFill>
                <a:latin typeface="Aptos"/>
              </a:defRPr>
            </a:pPr>
            <a:r>
              <a:t>80</a:t>
            </a:r>
          </a:p>
        </p:txBody>
      </p:sp>
      <p:sp>
        <p:nvSpPr>
          <p:cNvPr id="33" name="Oval 32"/>
          <p:cNvSpPr/>
          <p:nvPr/>
        </p:nvSpPr>
        <p:spPr>
          <a:xfrm>
            <a:off x="4183379" y="4732020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183379" y="473202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81E28"/>
                </a:solidFill>
                <a:latin typeface="Aptos"/>
              </a:defRPr>
            </a:pPr>
            <a:r>
              <a:t>35</a:t>
            </a:r>
          </a:p>
        </p:txBody>
      </p:sp>
      <p:sp>
        <p:nvSpPr>
          <p:cNvPr id="35" name="Oval 34"/>
          <p:cNvSpPr/>
          <p:nvPr/>
        </p:nvSpPr>
        <p:spPr>
          <a:xfrm>
            <a:off x="6377940" y="4732020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77940" y="473202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81E28"/>
                </a:solidFill>
                <a:latin typeface="Aptos"/>
              </a:defRPr>
            </a:pPr>
            <a:r>
              <a:t>55</a:t>
            </a:r>
          </a:p>
        </p:txBody>
      </p:sp>
      <p:sp>
        <p:nvSpPr>
          <p:cNvPr id="37" name="Oval 36"/>
          <p:cNvSpPr/>
          <p:nvPr/>
        </p:nvSpPr>
        <p:spPr>
          <a:xfrm>
            <a:off x="7475219" y="4732020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475219" y="473202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81E28"/>
                </a:solidFill>
                <a:latin typeface="Aptos"/>
              </a:defRPr>
            </a:pPr>
            <a:r>
              <a:t>65</a:t>
            </a:r>
          </a:p>
        </p:txBody>
      </p:sp>
      <p:sp>
        <p:nvSpPr>
          <p:cNvPr id="39" name="Oval 38"/>
          <p:cNvSpPr/>
          <p:nvPr/>
        </p:nvSpPr>
        <p:spPr>
          <a:xfrm>
            <a:off x="8572500" y="4732020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572500" y="473202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81E28"/>
                </a:solidFill>
                <a:latin typeface="Aptos"/>
              </a:defRPr>
            </a:pPr>
            <a:r>
              <a:t>75</a:t>
            </a:r>
          </a:p>
        </p:txBody>
      </p:sp>
      <p:sp>
        <p:nvSpPr>
          <p:cNvPr id="41" name="Oval 40"/>
          <p:cNvSpPr/>
          <p:nvPr/>
        </p:nvSpPr>
        <p:spPr>
          <a:xfrm>
            <a:off x="9669780" y="4732020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669780" y="473202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81E28"/>
                </a:solidFill>
                <a:latin typeface="Aptos"/>
              </a:defRPr>
            </a:pPr>
            <a:r>
              <a:t>90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15000" y="1353312"/>
            <a:ext cx="7315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E78433"/>
                </a:solidFill>
                <a:latin typeface="Aptos"/>
              </a:defRPr>
            </a:pPr>
            <a:r>
              <a:t>root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154680" y="5623560"/>
            <a:ext cx="1554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456991"/>
                </a:solidFill>
                <a:latin typeface="Aptos"/>
              </a:defRPr>
            </a:pPr>
            <a:r>
              <a:t>left subtree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43800" y="5623560"/>
            <a:ext cx="1737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456991"/>
                </a:solidFill>
                <a:latin typeface="Aptos"/>
              </a:defRPr>
            </a:pPr>
            <a:r>
              <a:t>right subtree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86200" y="5989320"/>
            <a:ext cx="4389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676C74"/>
                </a:solidFill>
                <a:latin typeface="Aptos"/>
              </a:defRPr>
            </a:pPr>
            <a:r>
              <a:t>Leaves: 10, 35, 55, 65, 75, 90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E78433"/>
                </a:solidFill>
                <a:latin typeface="Aptos"/>
              </a:defRPr>
            </a:pPr>
            <a:r>
              <a:t>06 •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181E28"/>
                </a:solidFill>
                <a:latin typeface="Aptos"/>
              </a:defRPr>
            </a:pPr>
            <a:r>
              <a:t>Root, leaves, subtrees, predecessor &amp; successor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685800" cy="41148"/>
          </a:xfrm>
          <a:prstGeom prst="rect">
            <a:avLst/>
          </a:prstGeom>
          <a:solidFill>
            <a:srgbClr val="E78433"/>
          </a:solidFill>
          <a:ln>
            <a:solidFill>
              <a:srgbClr val="E78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76C74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2743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76C74"/>
                </a:solidFill>
                <a:latin typeface="Aptos"/>
              </a:defRPr>
            </a:pPr>
            <a:r>
              <a:t>C++ Programming • Lab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510528"/>
            <a:ext cx="1645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76C74"/>
                </a:solidFill>
                <a:latin typeface="Aptos"/>
              </a:defRPr>
            </a:pPr>
            <a:r>
              <a:t>Arya Desai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44752"/>
            <a:ext cx="5486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181E28"/>
                </a:solidFill>
                <a:latin typeface="Aptos"/>
              </a:defRPr>
            </a:pPr>
            <a:r>
              <a:t>For my BST, the root is 50.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3886200" y="2286000"/>
            <a:ext cx="2194560" cy="594360"/>
          </a:xfrm>
          <a:prstGeom prst="line">
            <a:avLst/>
          </a:prstGeom>
          <a:ln w="17780">
            <a:solidFill>
              <a:srgbClr val="E0DD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80760" y="2286000"/>
            <a:ext cx="2194560" cy="594360"/>
          </a:xfrm>
          <a:prstGeom prst="line">
            <a:avLst/>
          </a:prstGeom>
          <a:ln w="17780">
            <a:solidFill>
              <a:srgbClr val="E0DD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2788920" y="3337560"/>
            <a:ext cx="1097280" cy="594360"/>
          </a:xfrm>
          <a:prstGeom prst="line">
            <a:avLst/>
          </a:prstGeom>
          <a:ln w="17780">
            <a:solidFill>
              <a:srgbClr val="E0DD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886200" y="3337560"/>
            <a:ext cx="1097280" cy="594360"/>
          </a:xfrm>
          <a:prstGeom prst="line">
            <a:avLst/>
          </a:prstGeom>
          <a:ln w="17780">
            <a:solidFill>
              <a:srgbClr val="E0DD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7178040" y="3337560"/>
            <a:ext cx="1097280" cy="594360"/>
          </a:xfrm>
          <a:prstGeom prst="line">
            <a:avLst/>
          </a:prstGeom>
          <a:ln w="17780">
            <a:solidFill>
              <a:srgbClr val="E0DD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275320" y="3337560"/>
            <a:ext cx="1097280" cy="594360"/>
          </a:xfrm>
          <a:prstGeom prst="line">
            <a:avLst/>
          </a:prstGeom>
          <a:ln w="17780">
            <a:solidFill>
              <a:srgbClr val="E0DD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4434840" y="4389120"/>
            <a:ext cx="548640" cy="594360"/>
          </a:xfrm>
          <a:prstGeom prst="line">
            <a:avLst/>
          </a:prstGeom>
          <a:ln w="17780">
            <a:solidFill>
              <a:srgbClr val="E0DD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6629400" y="4389120"/>
            <a:ext cx="548640" cy="594360"/>
          </a:xfrm>
          <a:prstGeom prst="line">
            <a:avLst/>
          </a:prstGeom>
          <a:ln w="17780">
            <a:solidFill>
              <a:srgbClr val="E0DD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78040" y="4389120"/>
            <a:ext cx="548639" cy="594360"/>
          </a:xfrm>
          <a:prstGeom prst="line">
            <a:avLst/>
          </a:prstGeom>
          <a:ln w="17780">
            <a:solidFill>
              <a:srgbClr val="E0DD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8823960" y="4389120"/>
            <a:ext cx="548640" cy="594360"/>
          </a:xfrm>
          <a:prstGeom prst="line">
            <a:avLst/>
          </a:prstGeom>
          <a:ln w="17780">
            <a:solidFill>
              <a:srgbClr val="E0DD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372600" y="4389120"/>
            <a:ext cx="548640" cy="594360"/>
          </a:xfrm>
          <a:prstGeom prst="line">
            <a:avLst/>
          </a:prstGeom>
          <a:ln w="17780">
            <a:solidFill>
              <a:srgbClr val="E0DD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5829300" y="1805940"/>
            <a:ext cx="502920" cy="502920"/>
          </a:xfrm>
          <a:prstGeom prst="ellipse">
            <a:avLst/>
          </a:prstGeom>
          <a:solidFill>
            <a:srgbClr val="FBEDDC"/>
          </a:solidFill>
          <a:ln w="25400">
            <a:solidFill>
              <a:srgbClr val="E78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829300" y="180594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81E28"/>
                </a:solidFill>
                <a:latin typeface="Aptos"/>
              </a:defRPr>
            </a:pPr>
            <a:r>
              <a:t>50</a:t>
            </a:r>
          </a:p>
        </p:txBody>
      </p:sp>
      <p:sp>
        <p:nvSpPr>
          <p:cNvPr id="22" name="Oval 21"/>
          <p:cNvSpPr/>
          <p:nvPr/>
        </p:nvSpPr>
        <p:spPr>
          <a:xfrm>
            <a:off x="3634740" y="2857500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34740" y="285750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81E28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24" name="Oval 23"/>
          <p:cNvSpPr/>
          <p:nvPr/>
        </p:nvSpPr>
        <p:spPr>
          <a:xfrm>
            <a:off x="8023860" y="2857500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23860" y="285750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81E28"/>
                </a:solidFill>
                <a:latin typeface="Aptos"/>
              </a:defRPr>
            </a:pPr>
            <a:r>
              <a:t>70</a:t>
            </a:r>
          </a:p>
        </p:txBody>
      </p:sp>
      <p:sp>
        <p:nvSpPr>
          <p:cNvPr id="26" name="Oval 25"/>
          <p:cNvSpPr/>
          <p:nvPr/>
        </p:nvSpPr>
        <p:spPr>
          <a:xfrm>
            <a:off x="2537460" y="3909059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537460" y="3909059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81E28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28" name="Oval 27"/>
          <p:cNvSpPr/>
          <p:nvPr/>
        </p:nvSpPr>
        <p:spPr>
          <a:xfrm>
            <a:off x="4732020" y="3909059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32020" y="3909059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81E28"/>
                </a:solidFill>
                <a:latin typeface="Aptos"/>
              </a:defRPr>
            </a:pPr>
            <a:r>
              <a:t>40</a:t>
            </a:r>
          </a:p>
        </p:txBody>
      </p:sp>
      <p:sp>
        <p:nvSpPr>
          <p:cNvPr id="30" name="Oval 29"/>
          <p:cNvSpPr/>
          <p:nvPr/>
        </p:nvSpPr>
        <p:spPr>
          <a:xfrm>
            <a:off x="6926579" y="3909059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926579" y="3909059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81E28"/>
                </a:solidFill>
                <a:latin typeface="Aptos"/>
              </a:defRPr>
            </a:pPr>
            <a:r>
              <a:t>60</a:t>
            </a:r>
          </a:p>
        </p:txBody>
      </p:sp>
      <p:sp>
        <p:nvSpPr>
          <p:cNvPr id="32" name="Oval 31"/>
          <p:cNvSpPr/>
          <p:nvPr/>
        </p:nvSpPr>
        <p:spPr>
          <a:xfrm>
            <a:off x="9121140" y="3909059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21140" y="3909059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81E28"/>
                </a:solidFill>
                <a:latin typeface="Aptos"/>
              </a:defRPr>
            </a:pPr>
            <a:r>
              <a:t>80</a:t>
            </a:r>
          </a:p>
        </p:txBody>
      </p:sp>
      <p:sp>
        <p:nvSpPr>
          <p:cNvPr id="34" name="Oval 33"/>
          <p:cNvSpPr/>
          <p:nvPr/>
        </p:nvSpPr>
        <p:spPr>
          <a:xfrm>
            <a:off x="4183379" y="4960620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183379" y="496062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81E28"/>
                </a:solidFill>
                <a:latin typeface="Aptos"/>
              </a:defRPr>
            </a:pPr>
            <a:r>
              <a:t>35</a:t>
            </a:r>
          </a:p>
        </p:txBody>
      </p:sp>
      <p:sp>
        <p:nvSpPr>
          <p:cNvPr id="36" name="Oval 35"/>
          <p:cNvSpPr/>
          <p:nvPr/>
        </p:nvSpPr>
        <p:spPr>
          <a:xfrm>
            <a:off x="6377940" y="4960620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77940" y="496062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81E28"/>
                </a:solidFill>
                <a:latin typeface="Aptos"/>
              </a:defRPr>
            </a:pPr>
            <a:r>
              <a:t>55</a:t>
            </a:r>
          </a:p>
        </p:txBody>
      </p:sp>
      <p:sp>
        <p:nvSpPr>
          <p:cNvPr id="38" name="Oval 37"/>
          <p:cNvSpPr/>
          <p:nvPr/>
        </p:nvSpPr>
        <p:spPr>
          <a:xfrm>
            <a:off x="7475219" y="4960620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475219" y="496062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81E28"/>
                </a:solidFill>
                <a:latin typeface="Aptos"/>
              </a:defRPr>
            </a:pPr>
            <a:r>
              <a:t>65</a:t>
            </a:r>
          </a:p>
        </p:txBody>
      </p:sp>
      <p:sp>
        <p:nvSpPr>
          <p:cNvPr id="40" name="Oval 39"/>
          <p:cNvSpPr/>
          <p:nvPr/>
        </p:nvSpPr>
        <p:spPr>
          <a:xfrm>
            <a:off x="8572500" y="4960620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572500" y="496062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81E28"/>
                </a:solidFill>
                <a:latin typeface="Aptos"/>
              </a:defRPr>
            </a:pPr>
            <a:r>
              <a:t>75</a:t>
            </a:r>
          </a:p>
        </p:txBody>
      </p:sp>
      <p:sp>
        <p:nvSpPr>
          <p:cNvPr id="42" name="Oval 41"/>
          <p:cNvSpPr/>
          <p:nvPr/>
        </p:nvSpPr>
        <p:spPr>
          <a:xfrm>
            <a:off x="9669780" y="4960620"/>
            <a:ext cx="502920" cy="50292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669780" y="496062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81E28"/>
                </a:solidFill>
                <a:latin typeface="Aptos"/>
              </a:defRPr>
            </a:pPr>
            <a:r>
              <a:t>90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7240" y="5440680"/>
            <a:ext cx="3246120" cy="594360"/>
          </a:xfrm>
          <a:prstGeom prst="roundRect">
            <a:avLst/>
          </a:prstGeom>
          <a:solidFill>
            <a:srgbClr val="E8EFF7"/>
          </a:solidFill>
          <a:ln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77240" y="5440680"/>
            <a:ext cx="32461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81E28"/>
                </a:solidFill>
                <a:latin typeface="Aptos"/>
              </a:defRPr>
            </a:pPr>
            <a:r>
              <a:t>Left subtree starts at 30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480560" y="5440680"/>
            <a:ext cx="3246120" cy="594360"/>
          </a:xfrm>
          <a:prstGeom prst="roundRect">
            <a:avLst/>
          </a:prstGeom>
          <a:solidFill>
            <a:srgbClr val="FBEDDC"/>
          </a:solidFill>
          <a:ln>
            <a:solidFill>
              <a:srgbClr val="E78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480560" y="5440680"/>
            <a:ext cx="32461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81E28"/>
                </a:solidFill>
                <a:latin typeface="Aptos"/>
              </a:defRPr>
            </a:pPr>
            <a:r>
              <a:t>Predecessor of 50 = 40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83879" y="5440680"/>
            <a:ext cx="3246120" cy="594360"/>
          </a:xfrm>
          <a:prstGeom prst="roundRect">
            <a:avLst/>
          </a:prstGeom>
          <a:solidFill>
            <a:srgbClr val="E8F3EC"/>
          </a:solidFill>
          <a:ln>
            <a:solidFill>
              <a:srgbClr val="4A8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183879" y="5440680"/>
            <a:ext cx="32461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81E28"/>
                </a:solidFill>
                <a:latin typeface="Aptos"/>
              </a:defRPr>
            </a:pPr>
            <a:r>
              <a:t>Successor of 50 = 55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E78433"/>
                </a:solidFill>
                <a:latin typeface="Aptos"/>
              </a:defRPr>
            </a:pPr>
            <a:r>
              <a:t>07 • TRAVERSALS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181E28"/>
                </a:solidFill>
                <a:latin typeface="Aptos"/>
              </a:defRPr>
            </a:pPr>
            <a:r>
              <a:t>Three ways to visit the tree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685800" cy="41148"/>
          </a:xfrm>
          <a:prstGeom prst="rect">
            <a:avLst/>
          </a:prstGeom>
          <a:solidFill>
            <a:srgbClr val="E78433"/>
          </a:solidFill>
          <a:ln>
            <a:solidFill>
              <a:srgbClr val="E78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76C74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2743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76C74"/>
                </a:solidFill>
                <a:latin typeface="Aptos"/>
              </a:defRPr>
            </a:pPr>
            <a:r>
              <a:t>C++ Programming • Lab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510528"/>
            <a:ext cx="1645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76C74"/>
                </a:solidFill>
                <a:latin typeface="Aptos"/>
              </a:defRPr>
            </a:pPr>
            <a:r>
              <a:t>Arya Desai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554480"/>
            <a:ext cx="1060704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1664207"/>
            <a:ext cx="1463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456991"/>
                </a:solidFill>
                <a:latin typeface="Aptos"/>
              </a:defRPr>
            </a:pPr>
            <a:r>
              <a:t>INORDER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1664207"/>
            <a:ext cx="2926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676C74"/>
                </a:solidFill>
                <a:latin typeface="Aptos"/>
              </a:defRPr>
            </a:pPr>
            <a:r>
              <a:t>LEFT → ROOT → RIGHT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148840"/>
            <a:ext cx="9784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81E28"/>
                </a:solidFill>
                <a:latin typeface="Aptos"/>
              </a:defRPr>
            </a:pPr>
            <a:r>
              <a:t>10 20 30 35 40 50 55 60 65 70 75 80 90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035808"/>
            <a:ext cx="1060704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1560" y="3145536"/>
            <a:ext cx="1463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E78433"/>
                </a:solidFill>
                <a:latin typeface="Aptos"/>
              </a:defRPr>
            </a:pPr>
            <a:r>
              <a:t>PREORDER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145536"/>
            <a:ext cx="2926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676C74"/>
                </a:solidFill>
                <a:latin typeface="Aptos"/>
              </a:defRPr>
            </a:pPr>
            <a:r>
              <a:t>ROOT → LEFT → RIGHT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630168"/>
            <a:ext cx="9784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81E28"/>
                </a:solidFill>
                <a:latin typeface="Aptos"/>
              </a:defRPr>
            </a:pPr>
            <a:r>
              <a:t>50 30 20 10 40 35 70 60 55 65 80 75 90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517136"/>
            <a:ext cx="1060704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51560" y="4626864"/>
            <a:ext cx="1463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4A8967"/>
                </a:solidFill>
                <a:latin typeface="Aptos"/>
              </a:defRPr>
            </a:pPr>
            <a:r>
              <a:t>POSTORDER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4626864"/>
            <a:ext cx="2926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676C74"/>
                </a:solidFill>
                <a:latin typeface="Aptos"/>
              </a:defRPr>
            </a:pPr>
            <a:r>
              <a:t>LEFT → RIGHT → ROOT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5111496"/>
            <a:ext cx="9784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81E28"/>
                </a:solidFill>
                <a:latin typeface="Aptos"/>
              </a:defRPr>
            </a:pPr>
            <a:r>
              <a:t>10 20 35 40 30 55 65 60 75 90 80 70 50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E78433"/>
                </a:solidFill>
                <a:latin typeface="Aptos"/>
              </a:defRPr>
            </a:pPr>
            <a:r>
              <a:t>08 • INORDER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181E28"/>
                </a:solidFill>
                <a:latin typeface="Aptos"/>
              </a:defRPr>
            </a:pPr>
            <a:r>
              <a:t>Why BST inorder is sorted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685800" cy="41148"/>
          </a:xfrm>
          <a:prstGeom prst="rect">
            <a:avLst/>
          </a:prstGeom>
          <a:solidFill>
            <a:srgbClr val="E78433"/>
          </a:solidFill>
          <a:ln>
            <a:solidFill>
              <a:srgbClr val="E78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76C74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2743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76C74"/>
                </a:solidFill>
                <a:latin typeface="Aptos"/>
              </a:defRPr>
            </a:pPr>
            <a:r>
              <a:t>C++ Programming • Lab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510528"/>
            <a:ext cx="1645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76C74"/>
                </a:solidFill>
                <a:latin typeface="Aptos"/>
              </a:defRPr>
            </a:pPr>
            <a:r>
              <a:t>Arya Desai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3327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1">
                <a:solidFill>
                  <a:srgbClr val="181E28"/>
                </a:solidFill>
                <a:latin typeface="Aptos"/>
              </a:defRPr>
            </a:pPr>
            <a:r>
              <a:t>Inorder visits the left subtree, then the node, then the right subtree.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102412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0">
                <a:solidFill>
                  <a:srgbClr val="676C74"/>
                </a:solidFill>
                <a:latin typeface="Aptos"/>
              </a:defRPr>
            </a:pPr>
            <a:r>
              <a:t>Because a BST stores smaller values on the left and larger values on the right, the result comes out in ascending order.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246120"/>
            <a:ext cx="10515600" cy="960120"/>
          </a:xfrm>
          <a:prstGeom prst="roundRect">
            <a:avLst/>
          </a:prstGeom>
          <a:solidFill>
            <a:srgbClr val="E8EFF7"/>
          </a:solidFill>
          <a:ln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3246120"/>
            <a:ext cx="102412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181E28"/>
                </a:solidFill>
                <a:latin typeface="Aptos"/>
              </a:defRPr>
            </a:pPr>
            <a:r>
              <a:t>10   20   30   35   40   50   55   60   65   70   75   80   90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4617720"/>
            <a:ext cx="71323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456991"/>
                </a:solidFill>
                <a:latin typeface="Aptos"/>
              </a:defRPr>
            </a:pPr>
            <a:r>
              <a:t>This is exactly the inorder output from my program.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E78433"/>
                </a:solidFill>
                <a:latin typeface="Aptos"/>
              </a:defRPr>
            </a:pPr>
            <a:r>
              <a:t>09 •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181E28"/>
                </a:solidFill>
                <a:latin typeface="Aptos"/>
              </a:defRPr>
            </a:pPr>
            <a:r>
              <a:t>How I handled insertion &amp; duplicates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685800" cy="41148"/>
          </a:xfrm>
          <a:prstGeom prst="rect">
            <a:avLst/>
          </a:prstGeom>
          <a:solidFill>
            <a:srgbClr val="E78433"/>
          </a:solidFill>
          <a:ln>
            <a:solidFill>
              <a:srgbClr val="E78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76C74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2743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76C74"/>
                </a:solidFill>
                <a:latin typeface="Aptos"/>
              </a:defRPr>
            </a:pPr>
            <a:r>
              <a:t>C++ Programming • Lab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510528"/>
            <a:ext cx="1645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76C74"/>
                </a:solidFill>
                <a:latin typeface="Aptos"/>
              </a:defRPr>
            </a:pPr>
            <a:r>
              <a:t>Arya Desai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37033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456991"/>
                </a:solidFill>
                <a:latin typeface="Aptos"/>
              </a:defRPr>
            </a:pPr>
            <a:r>
              <a:t>My 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23160"/>
            <a:ext cx="3063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181E28"/>
                </a:solidFill>
                <a:latin typeface="Aptos"/>
              </a:defRPr>
            </a:pPr>
            <a:r>
              <a:t>• Create a Node with data, left, and right.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35808"/>
            <a:ext cx="3063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181E28"/>
                </a:solidFill>
                <a:latin typeface="Aptos"/>
              </a:defRPr>
            </a:pPr>
            <a:r>
              <a:t>• Start with an empty root.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48456"/>
            <a:ext cx="3063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181E28"/>
                </a:solidFill>
                <a:latin typeface="Aptos"/>
              </a:defRPr>
            </a:pPr>
            <a:r>
              <a:t>• Compare each value with the current node.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261104"/>
            <a:ext cx="3063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181E28"/>
                </a:solidFill>
                <a:latin typeface="Aptos"/>
              </a:defRPr>
            </a:pPr>
            <a:r>
              <a:t>• Go left for smaller values and right for larger values.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873752"/>
            <a:ext cx="3063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181E28"/>
                </a:solidFill>
                <a:latin typeface="Aptos"/>
              </a:defRPr>
            </a:pPr>
            <a:r>
              <a:t>• Ignore equal values as duplicates.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1508760"/>
            <a:ext cx="6903720" cy="4480560"/>
          </a:xfrm>
          <a:prstGeom prst="roundRect">
            <a:avLst/>
          </a:prstGeom>
          <a:solidFill>
            <a:srgbClr val="181E28"/>
          </a:solidFill>
          <a:ln>
            <a:solidFill>
              <a:srgbClr val="18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37760" y="1920240"/>
            <a:ext cx="6126480" cy="3474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Menlo"/>
              </a:defRPr>
            </a:pPr>
            <a:r>
              <a:t>if (node == nullptr)</a:t>
            </a:r>
            <a:br/>
            <a:r>
              <a:t>    return new Node(value);</a:t>
            </a:r>
            <a:br/>
            <a:br/>
            <a:r>
              <a:t>if (value &lt; node-&gt;data)</a:t>
            </a:r>
            <a:br/>
            <a:r>
              <a:t>    node-&gt;left = insert(node-&gt;left, value);</a:t>
            </a:r>
            <a:br/>
            <a:r>
              <a:t>else if (value &gt; node-&gt;data)</a:t>
            </a:r>
            <a:br/>
            <a:r>
              <a:t>    node-&gt;right = insert(node-&gt;right, value);</a:t>
            </a:r>
            <a:br/>
            <a:r>
              <a:t>else</a:t>
            </a:r>
            <a:br/>
            <a:r>
              <a:t>    cout &lt;&lt; "Duplicate " &lt;&lt; value &lt;&lt; " ignored.";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E78433"/>
                </a:solidFill>
                <a:latin typeface="Aptos"/>
              </a:defRPr>
            </a:pPr>
            <a:r>
              <a:t>10 •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181E28"/>
                </a:solidFill>
                <a:latin typeface="Aptos"/>
              </a:defRPr>
            </a:pPr>
            <a:r>
              <a:t>My actual program output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685800" cy="41148"/>
          </a:xfrm>
          <a:prstGeom prst="rect">
            <a:avLst/>
          </a:prstGeom>
          <a:solidFill>
            <a:srgbClr val="E78433"/>
          </a:solidFill>
          <a:ln>
            <a:solidFill>
              <a:srgbClr val="E78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76C74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2743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76C74"/>
                </a:solidFill>
                <a:latin typeface="Aptos"/>
              </a:defRPr>
            </a:pPr>
            <a:r>
              <a:t>C++ Programming • Lab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510528"/>
            <a:ext cx="1645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76C74"/>
                </a:solidFill>
                <a:latin typeface="Aptos"/>
              </a:defRPr>
            </a:pPr>
            <a:r>
              <a:t>Arya Desai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10424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81E28"/>
                </a:solidFill>
                <a:latin typeface="Aptos"/>
              </a:defRPr>
            </a:pPr>
            <a:r>
              <a:t>This is the output from the BST program I ran in Terminal.</a:t>
            </a:r>
          </a:p>
        </p:txBody>
      </p:sp>
      <p:pic>
        <p:nvPicPr>
          <p:cNvPr id="9" name="Picture 8" descr="Screenshot 2026-09-22 at 2.52.19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10378440" cy="673600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6053328"/>
            <a:ext cx="10378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676C74"/>
                </a:solidFill>
                <a:latin typeface="Aptos"/>
              </a:defRPr>
            </a:pPr>
            <a:r>
              <a:t>It shows the original array, rejected duplicates, root, traversals, predecessor, and successor.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E78433"/>
                </a:solidFill>
                <a:latin typeface="Aptos"/>
              </a:defRPr>
            </a:pPr>
            <a:r>
              <a:t>11 • USES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181E28"/>
                </a:solidFill>
                <a:latin typeface="Aptos"/>
              </a:defRPr>
            </a:pPr>
            <a:r>
              <a:t>Where trees and BSTs are useful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685800" cy="41148"/>
          </a:xfrm>
          <a:prstGeom prst="rect">
            <a:avLst/>
          </a:prstGeom>
          <a:solidFill>
            <a:srgbClr val="E78433"/>
          </a:solidFill>
          <a:ln>
            <a:solidFill>
              <a:srgbClr val="E78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76C74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2743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76C74"/>
                </a:solidFill>
                <a:latin typeface="Aptos"/>
              </a:defRPr>
            </a:pPr>
            <a:r>
              <a:t>C++ Programming • Lab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510528"/>
            <a:ext cx="1645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76C74"/>
                </a:solidFill>
                <a:latin typeface="Aptos"/>
              </a:defRPr>
            </a:pPr>
            <a:r>
              <a:t>Arya Desai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50749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554480"/>
            <a:ext cx="73152" cy="1737360"/>
          </a:xfrm>
          <a:prstGeom prst="rect">
            <a:avLst/>
          </a:prstGeom>
          <a:solidFill/>
          <a:ln>
            <a:solidFill>
              <a:srgbClr val="4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1783080"/>
            <a:ext cx="4206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181E28"/>
                </a:solidFill>
                <a:latin typeface="Aptos"/>
              </a:defRPr>
            </a:pPr>
            <a:r>
              <a:t>File systems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31720"/>
            <a:ext cx="4343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76C74"/>
                </a:solidFill>
                <a:latin typeface="Aptos"/>
              </a:defRPr>
            </a:pPr>
            <a:r>
              <a:t>A tree represents folders and files in a hierarchy.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54480"/>
            <a:ext cx="50749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1554480"/>
            <a:ext cx="73152" cy="1737360"/>
          </a:xfrm>
          <a:prstGeom prst="rect">
            <a:avLst/>
          </a:prstGeom>
          <a:solidFill/>
          <a:ln>
            <a:solidFill>
              <a:srgbClr val="E78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59" y="1783080"/>
            <a:ext cx="4206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181E28"/>
                </a:solidFill>
                <a:latin typeface="Aptos"/>
              </a:defRPr>
            </a:pPr>
            <a:r>
              <a:t>Organization charts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59" y="2331720"/>
            <a:ext cx="4343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76C74"/>
                </a:solidFill>
                <a:latin typeface="Aptos"/>
              </a:defRPr>
            </a:pPr>
            <a:r>
              <a:t>A tree can show relationships between managers and employees.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657600"/>
            <a:ext cx="50749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3657600"/>
            <a:ext cx="73152" cy="1737360"/>
          </a:xfrm>
          <a:prstGeom prst="rect">
            <a:avLst/>
          </a:prstGeom>
          <a:solidFill/>
          <a:ln>
            <a:solidFill>
              <a:srgbClr val="4A89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3886200"/>
            <a:ext cx="4206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181E28"/>
                </a:solidFill>
                <a:latin typeface="Aptos"/>
              </a:defRPr>
            </a:pPr>
            <a:r>
              <a:t>Searching ordered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434840"/>
            <a:ext cx="4343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76C74"/>
                </a:solidFill>
                <a:latin typeface="Aptos"/>
              </a:defRPr>
            </a:pPr>
            <a:r>
              <a:t>A BST organizes values so comparisons guide the search left or right.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657600"/>
            <a:ext cx="50749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63640" y="3657600"/>
            <a:ext cx="73152" cy="1737360"/>
          </a:xfrm>
          <a:prstGeom prst="rect">
            <a:avLst/>
          </a:prstGeom>
          <a:solidFill/>
          <a:ln>
            <a:solidFill>
              <a:srgbClr val="BC4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37959" y="3886200"/>
            <a:ext cx="4206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181E28"/>
                </a:solidFill>
                <a:latin typeface="Aptos"/>
              </a:defRPr>
            </a:pPr>
            <a:r>
              <a:t>Sorted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59" y="4434840"/>
            <a:ext cx="4343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676C74"/>
                </a:solidFill>
                <a:latin typeface="Aptos"/>
              </a:defRPr>
            </a:pPr>
            <a:r>
              <a:t>A BST can maintain values in an ordered structure; inorder traversal gives sorted output.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E78433"/>
                </a:solidFill>
                <a:latin typeface="Aptos"/>
              </a:defRPr>
            </a:pPr>
            <a:r>
              <a:t>12 • REFLECTION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181E28"/>
                </a:solidFill>
                <a:latin typeface="Aptos"/>
              </a:defRPr>
            </a:pPr>
            <a:r>
              <a:t>What I learned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685800" cy="41148"/>
          </a:xfrm>
          <a:prstGeom prst="rect">
            <a:avLst/>
          </a:prstGeom>
          <a:solidFill>
            <a:srgbClr val="E78433"/>
          </a:solidFill>
          <a:ln>
            <a:solidFill>
              <a:srgbClr val="E78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76C74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2743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76C74"/>
                </a:solidFill>
                <a:latin typeface="Aptos"/>
              </a:defRPr>
            </a:pPr>
            <a:r>
              <a:t>C++ Programming • Lab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510528"/>
            <a:ext cx="1645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76C74"/>
                </a:solidFill>
                <a:latin typeface="Aptos"/>
              </a:defRPr>
            </a:pPr>
            <a:r>
              <a:t>Arya Desai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81328"/>
            <a:ext cx="104241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181E28"/>
                </a:solidFill>
                <a:latin typeface="Aptos"/>
              </a:defRPr>
            </a:pPr>
            <a:r>
              <a:t>Building the tree helped me understand how the BST rule controls where every value goes.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1024128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0">
                <a:solidFill>
                  <a:srgbClr val="181E28"/>
                </a:solidFill>
                <a:latin typeface="Aptos"/>
              </a:defRPr>
            </a:pPr>
            <a:r>
              <a:t>The most useful part for me was seeing the same tree produce three different traversal orders. The inorder result also made it clear why a BST can produce sorted values.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94760"/>
            <a:ext cx="1325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E78433"/>
                </a:solidFill>
                <a:latin typeface="Aptos"/>
              </a:defRPr>
            </a:pPr>
            <a:r>
              <a:t>DUPLICATES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794760"/>
            <a:ext cx="8138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676C74"/>
                </a:solidFill>
                <a:latin typeface="Aptos"/>
              </a:defRPr>
            </a:pPr>
            <a:r>
              <a:t>30 and 70 were detected and ignored.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53128"/>
            <a:ext cx="1325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E78433"/>
                </a:solidFill>
                <a:latin typeface="Aptos"/>
              </a:defRPr>
            </a:pPr>
            <a:r>
              <a:t>TRAVERSALS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4453128"/>
            <a:ext cx="8138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676C74"/>
                </a:solidFill>
                <a:latin typeface="Aptos"/>
              </a:defRPr>
            </a:pPr>
            <a:r>
              <a:t>The visit order changes depending on where the root is visited.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111496"/>
            <a:ext cx="1325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E78433"/>
                </a:solidFill>
                <a:latin typeface="Aptos"/>
              </a:defRPr>
            </a:pPr>
            <a:r>
              <a:t>BST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5111496"/>
            <a:ext cx="8138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676C74"/>
                </a:solidFill>
                <a:latin typeface="Aptos"/>
              </a:defRPr>
            </a:pPr>
            <a:r>
              <a:t>Smaller values move left; larger values move right.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65760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E78433"/>
                </a:solidFill>
                <a:latin typeface="Aptos"/>
              </a:defRPr>
            </a:pPr>
            <a:r>
              <a:t>13 •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181E28"/>
                </a:solidFill>
                <a:latin typeface="Aptos"/>
              </a:defRPr>
            </a:pPr>
            <a: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685800" cy="41148"/>
          </a:xfrm>
          <a:prstGeom prst="rect">
            <a:avLst/>
          </a:prstGeom>
          <a:solidFill>
            <a:srgbClr val="E78433"/>
          </a:solidFill>
          <a:ln>
            <a:solidFill>
              <a:srgbClr val="E784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347472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76C74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274320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00" b="0">
                <a:solidFill>
                  <a:srgbClr val="676C74"/>
                </a:solidFill>
                <a:latin typeface="Aptos"/>
              </a:defRPr>
            </a:pPr>
            <a:r>
              <a:t>C++ Programming • Lab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6510528"/>
            <a:ext cx="1645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0">
                <a:solidFill>
                  <a:srgbClr val="676C74"/>
                </a:solidFill>
                <a:latin typeface="Aptos"/>
              </a:defRPr>
            </a:pPr>
            <a:r>
              <a:t>Arya Desai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508760"/>
            <a:ext cx="106070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1508760"/>
            <a:ext cx="384048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E78433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581912"/>
            <a:ext cx="5212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81E28"/>
                </a:solidFill>
                <a:latin typeface="Aptos"/>
              </a:defRPr>
            </a:pPr>
            <a:r>
              <a:t>Virginia Tech OpenDSA — Binary Search Trees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965960"/>
            <a:ext cx="88696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6C74"/>
                </a:solidFill>
                <a:latin typeface="Aptos"/>
              </a:defRPr>
            </a:pPr>
            <a:r>
              <a:t>https://opendsa-server.cs.vt.edu/ODSA/Books/CS3S26slides/html/BST.html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743200"/>
            <a:ext cx="106070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" y="2743200"/>
            <a:ext cx="384048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E78433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816352"/>
            <a:ext cx="5212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81E28"/>
                </a:solidFill>
                <a:latin typeface="Aptos"/>
              </a:defRPr>
            </a:pPr>
            <a:r>
              <a:t>Virginia Tech OpenDSA — Binary Trees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200400"/>
            <a:ext cx="88696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6C74"/>
                </a:solidFill>
                <a:latin typeface="Aptos"/>
              </a:defRPr>
            </a:pPr>
            <a:r>
              <a:t>https://opendsa-server.cs.vt.edu/ODSA/Books/CS3S26slides/html/BinaryTree.html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977639"/>
            <a:ext cx="106070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0DD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7552" y="3977639"/>
            <a:ext cx="384048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E78433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050791"/>
            <a:ext cx="521208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81E28"/>
                </a:solidFill>
                <a:latin typeface="Aptos"/>
              </a:defRPr>
            </a:pPr>
            <a:r>
              <a:t>cppreference — C++ pointers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434840"/>
            <a:ext cx="88696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50" b="0">
                <a:solidFill>
                  <a:srgbClr val="676C74"/>
                </a:solidFill>
                <a:latin typeface="Aptos"/>
              </a:defRPr>
            </a:pPr>
            <a:r>
              <a:t>https://en.cppreference.com/w/cpp/language/pointer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532120"/>
            <a:ext cx="10424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676C74"/>
                </a:solidFill>
                <a:latin typeface="Aptos"/>
              </a:defRPr>
            </a:pPr>
            <a:r>
              <a:t>The dataset, diagrams, code, and Terminal testing shown here are my own work.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1097</Words>
  <Application>Microsoft Macintosh PowerPoint</Application>
  <PresentationFormat>Widescreen</PresentationFormat>
  <Paragraphs>193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Desai, Arya Shaileshbhai</cp:lastModifiedBy>
  <cp:revision>1</cp:revision>
  <dcterms:created xsi:type="dcterms:W3CDTF">2013-01-27T09:14:16Z</dcterms:created>
  <dcterms:modified xsi:type="dcterms:W3CDTF">2026-09-22T19:54:23Z</dcterms:modified>
  <cp:category/>
</cp:coreProperties>
</file>