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5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729"/>
  </p:normalViewPr>
  <p:slideViewPr>
    <p:cSldViewPr snapToGrid="0" snapToObjects="1">
      <p:cViewPr varScale="1">
        <p:scale>
          <a:sx n="96" d="100"/>
          <a:sy n="96" d="100"/>
        </p:scale>
        <p:origin x="176" y="5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A58B9B-8B0F-944B-B611-FF050A5047EF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BC246F-0993-6E4F-84F0-710363D68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1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BC246F-0993-6E4F-84F0-710363D684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894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164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826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8472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417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886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012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077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04094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61811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712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373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284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2926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78433"/>
                </a:solidFill>
                <a:latin typeface="Aptos"/>
              </a:defRPr>
            </a:pPr>
            <a:r>
              <a:t>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212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500" b="1">
                <a:solidFill>
                  <a:srgbClr val="181E28"/>
                </a:solidFill>
                <a:latin typeface="Aptos"/>
              </a:defRPr>
            </a:pPr>
            <a:r>
              <a:t>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676C74"/>
                </a:solidFill>
                <a:latin typeface="Aptos"/>
              </a:defRPr>
            </a:pPr>
            <a:r>
              <a:t>A simple look at LIFO and my C++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3931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81E28"/>
                </a:solidFill>
                <a:latin typeface="Aptos"/>
              </a:defRPr>
            </a:pPr>
            <a:r>
              <a:t>C++ Programming |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783080"/>
            <a:ext cx="1965960" cy="493776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1783080"/>
            <a:ext cx="19659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181E28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2441448"/>
            <a:ext cx="1965960" cy="493776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2441448"/>
            <a:ext cx="19659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181E28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3099815"/>
            <a:ext cx="1965960" cy="493776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3099815"/>
            <a:ext cx="19659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181E2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97312" y="171907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TOP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9966960" y="2029968"/>
            <a:ext cx="347472" cy="0"/>
          </a:xfrm>
          <a:prstGeom prst="line">
            <a:avLst/>
          </a:prstGeom>
          <a:ln w="25400">
            <a:solidFill>
              <a:srgbClr val="E7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58200" y="4069080"/>
            <a:ext cx="1691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456991"/>
                </a:solidFill>
                <a:latin typeface="Aptos"/>
              </a:defRPr>
            </a:pPr>
            <a:r>
              <a:t>LIFO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rPr dirty="0"/>
              <a:t>01 •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9875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What is a stack?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6400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1E28"/>
                </a:solidFill>
                <a:latin typeface="Aptos"/>
              </a:defRPr>
            </a:pPr>
            <a:r>
              <a:rPr dirty="0"/>
              <a:t>The easiest way to think about a stack is a pile.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676C74"/>
                </a:solidFill>
                <a:latin typeface="Aptos"/>
              </a:defRPr>
            </a:pPr>
            <a:r>
              <a:t>You add and remove things from the same end — the top.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63240"/>
            <a:ext cx="388620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3502152"/>
            <a:ext cx="388620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3941064"/>
            <a:ext cx="388620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" y="4379976"/>
            <a:ext cx="388620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297180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TOP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4572000" y="3246120"/>
            <a:ext cx="320040" cy="0"/>
          </a:xfrm>
          <a:prstGeom prst="line">
            <a:avLst/>
          </a:prstGeom>
          <a:ln w="25400">
            <a:solidFill>
              <a:srgbClr val="E7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49440" y="2880360"/>
            <a:ext cx="4343400" cy="2057400"/>
          </a:xfrm>
          <a:prstGeom prst="roundRect">
            <a:avLst/>
          </a:prstGeom>
          <a:solidFill>
            <a:srgbClr val="FBEDDC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69480" y="3154680"/>
            <a:ext cx="1143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E78433"/>
                </a:solidFill>
                <a:latin typeface="Aptos"/>
              </a:defRPr>
            </a:pPr>
            <a:r>
              <a:t>LIFO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090672"/>
            <a:ext cx="2240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81E28"/>
                </a:solidFill>
                <a:latin typeface="Aptos"/>
              </a:defRPr>
            </a:pPr>
            <a:r>
              <a:t>Last In</a:t>
            </a:r>
            <a:br/>
            <a:r>
              <a:t>First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160520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81E28"/>
                </a:solidFill>
                <a:latin typeface="Aptos"/>
              </a:defRPr>
            </a:pPr>
            <a:r>
              <a:t>So the newest item is the first one we take 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456991"/>
                </a:solidFill>
                <a:latin typeface="Aptos"/>
              </a:defRPr>
            </a:pPr>
            <a:r>
              <a:t>Example: a stack of plates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697480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E28"/>
                </a:solidFill>
                <a:latin typeface="Aptos"/>
              </a:defRPr>
            </a:pPr>
            <a:r>
              <a:t>For me, the easiest way to picture a stack is a pile of plates.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4924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676C74"/>
                </a:solidFill>
                <a:latin typeface="Aptos"/>
              </a:defRPr>
            </a:pPr>
            <a:r>
              <a:t>I can only add or remove a plate from the top.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02 •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9875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The main stack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72768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572768"/>
            <a:ext cx="3246120" cy="64008"/>
          </a:xfrm>
          <a:prstGeom prst="rect">
            <a:avLst/>
          </a:prstGeom>
          <a:solidFill>
            <a:srgbClr val="456991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801368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181E28"/>
                </a:solidFill>
                <a:latin typeface="Aptos"/>
              </a:defRPr>
            </a:pPr>
            <a:r>
              <a:t>push()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95728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676C74"/>
                </a:solidFill>
                <a:latin typeface="Aptos"/>
              </a:defRPr>
            </a:pPr>
            <a:r>
              <a:t>add to the top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572768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0" y="1572768"/>
            <a:ext cx="3246120" cy="6400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0600" y="1801368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181E28"/>
                </a:solidFill>
                <a:latin typeface="Aptos"/>
              </a:defRPr>
            </a:pPr>
            <a:r>
              <a:t>pop()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395728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676C74"/>
                </a:solidFill>
                <a:latin typeface="Aptos"/>
              </a:defRPr>
            </a:pPr>
            <a:r>
              <a:t>remove the top item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572768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66760" y="1572768"/>
            <a:ext cx="3246120" cy="64008"/>
          </a:xfrm>
          <a:prstGeom prst="rect">
            <a:avLst/>
          </a:prstGeom>
          <a:solidFill>
            <a:srgbClr val="4A8967"/>
          </a:solidFill>
          <a:ln>
            <a:solidFill>
              <a:srgbClr val="4A8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0" y="1801368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181E28"/>
                </a:solidFill>
                <a:latin typeface="Aptos"/>
              </a:defRPr>
            </a:pPr>
            <a:r>
              <a:t>peek()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395728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676C74"/>
                </a:solidFill>
                <a:latin typeface="Aptos"/>
              </a:defRPr>
            </a:pPr>
            <a:r>
              <a:t>look at the top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5760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3657600"/>
            <a:ext cx="3246120" cy="64008"/>
          </a:xfrm>
          <a:prstGeom prst="rect">
            <a:avLst/>
          </a:prstGeom>
          <a:solidFill>
            <a:srgbClr val="BC4A4A"/>
          </a:solidFill>
          <a:ln>
            <a:solidFill>
              <a:srgbClr val="BC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88620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181E28"/>
                </a:solidFill>
                <a:latin typeface="Aptos"/>
              </a:defRPr>
            </a:pPr>
            <a:r>
              <a:t>isEmpty()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80560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676C74"/>
                </a:solidFill>
                <a:latin typeface="Aptos"/>
              </a:defRPr>
            </a:pPr>
            <a:r>
              <a:t>check if it has no items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65760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0" y="3657600"/>
            <a:ext cx="3246120" cy="64008"/>
          </a:xfrm>
          <a:prstGeom prst="rect">
            <a:avLst/>
          </a:prstGeom>
          <a:solidFill>
            <a:srgbClr val="456991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00600" y="388620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181E28"/>
                </a:solidFill>
                <a:latin typeface="Aptos"/>
              </a:defRPr>
            </a:pPr>
            <a:r>
              <a:t>isFull()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480560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676C74"/>
                </a:solidFill>
                <a:latin typeface="Aptos"/>
              </a:defRPr>
            </a:pPr>
            <a:r>
              <a:t>check if the array is full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365760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66760" y="3657600"/>
            <a:ext cx="3246120" cy="6400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95360" y="388620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181E28"/>
                </a:solidFill>
                <a:latin typeface="Aptos"/>
              </a:defRPr>
            </a:pPr>
            <a:r>
              <a:t>displayAll()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480560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676C74"/>
                </a:solidFill>
                <a:latin typeface="Aptos"/>
              </a:defRPr>
            </a:pPr>
            <a:r>
              <a:t>show the current 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806440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676C74"/>
                </a:solidFill>
                <a:latin typeface="Aptos"/>
              </a:defRPr>
            </a:pPr>
            <a:r>
              <a:t>In the code, `top` keeps track of the current top position.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03 • LIFO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9875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Push &amp; pop in one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0481" y="1824333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456991"/>
                </a:solidFill>
                <a:latin typeface="Aptos"/>
              </a:defRPr>
            </a:pPr>
            <a:r>
              <a:rPr dirty="0"/>
              <a:t>PUSH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071747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rPr dirty="0"/>
              <a:t>put 40 on 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31920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76C74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2926080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E7843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03320" y="2057400"/>
            <a:ext cx="1051560" cy="411480"/>
          </a:xfrm>
          <a:prstGeom prst="rect">
            <a:avLst/>
          </a:prstGeom>
          <a:solidFill>
            <a:srgbClr val="FBEDDC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03320" y="2057400"/>
            <a:ext cx="1051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14600"/>
            <a:ext cx="1051560" cy="411480"/>
          </a:xfrm>
          <a:prstGeom prst="rect">
            <a:avLst/>
          </a:prstGeom>
          <a:solidFill>
            <a:srgbClr val="FBEDDC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03320" y="2514600"/>
            <a:ext cx="1051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rPr dirty="0"/>
              <a:t>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03320" y="2971800"/>
            <a:ext cx="1051560" cy="411480"/>
          </a:xfrm>
          <a:prstGeom prst="rect">
            <a:avLst/>
          </a:prstGeom>
          <a:solidFill>
            <a:srgbClr val="FBEDDC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03320" y="2971800"/>
            <a:ext cx="1051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3429000"/>
            <a:ext cx="1051560" cy="411480"/>
          </a:xfrm>
          <a:prstGeom prst="rect">
            <a:avLst/>
          </a:prstGeom>
          <a:solidFill>
            <a:srgbClr val="FBEDDC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03320" y="3429000"/>
            <a:ext cx="1051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3931920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76C74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4608" y="1993392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TOP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5087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E78433"/>
                </a:solidFill>
                <a:latin typeface="Aptos"/>
              </a:defRPr>
            </a:pPr>
            <a:r>
              <a:t>POP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2057400"/>
            <a:ext cx="1051560" cy="411480"/>
          </a:xfrm>
          <a:prstGeom prst="rect">
            <a:avLst/>
          </a:prstGeom>
          <a:solidFill>
            <a:srgbClr val="FBEDDC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2057400"/>
            <a:ext cx="1051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2514600"/>
            <a:ext cx="1051560" cy="411480"/>
          </a:xfrm>
          <a:prstGeom prst="rect">
            <a:avLst/>
          </a:prstGeom>
          <a:solidFill>
            <a:srgbClr val="FBEDDC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2514600"/>
            <a:ext cx="1051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2971800"/>
            <a:ext cx="1051560" cy="411480"/>
          </a:xfrm>
          <a:prstGeom prst="rect">
            <a:avLst/>
          </a:prstGeom>
          <a:solidFill>
            <a:srgbClr val="FBEDDC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2971800"/>
            <a:ext cx="1051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3429000"/>
            <a:ext cx="1051560" cy="411480"/>
          </a:xfrm>
          <a:prstGeom prst="rect">
            <a:avLst/>
          </a:prstGeom>
          <a:solidFill>
            <a:srgbClr val="FBEDDC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60" y="3429000"/>
            <a:ext cx="1051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931920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76C74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2926080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E7843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26880" y="2514600"/>
            <a:ext cx="1051560" cy="411480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26880" y="2514600"/>
            <a:ext cx="1051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2971800"/>
            <a:ext cx="1051560" cy="411480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0" y="2971800"/>
            <a:ext cx="1051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3429000"/>
            <a:ext cx="1051560" cy="411480"/>
          </a:xfrm>
          <a:prstGeom prst="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26880" y="3429000"/>
            <a:ext cx="1051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931920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76C74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4343400"/>
            <a:ext cx="2651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BC4A4A"/>
                </a:solidFill>
                <a:latin typeface="Aptos"/>
              </a:defRPr>
            </a:pPr>
            <a:r>
              <a:t>40 is removed first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94560" y="4892040"/>
            <a:ext cx="7772400" cy="621792"/>
          </a:xfrm>
          <a:prstGeom prst="roundRect">
            <a:avLst/>
          </a:prstGeom>
          <a:solidFill>
            <a:srgbClr val="181E28"/>
          </a:solidFill>
          <a:ln>
            <a:solidFill>
              <a:srgbClr val="18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331720" y="4892040"/>
            <a:ext cx="749807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Last in → first out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1719072"/>
            <a:ext cx="1188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E78433"/>
                </a:solidFill>
                <a:latin typeface="Aptos"/>
              </a:defRPr>
            </a:pPr>
            <a:r>
              <a:t>TOP → 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3952" y="1719072"/>
            <a:ext cx="1188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E78433"/>
                </a:solidFill>
                <a:latin typeface="Aptos"/>
              </a:defRPr>
            </a:pPr>
            <a:r>
              <a:t>TOP → 40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5532120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456991"/>
                </a:solidFill>
                <a:latin typeface="Aptos"/>
              </a:defRPr>
            </a:pPr>
            <a:r>
              <a:t>My example: I pushed 10, 20, 30, then popped 30 first.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59A6DDE-2667-9087-6D94-38A8900E8982}"/>
              </a:ext>
            </a:extLst>
          </p:cNvPr>
          <p:cNvSpPr/>
          <p:nvPr/>
        </p:nvSpPr>
        <p:spPr>
          <a:xfrm>
            <a:off x="1005840" y="2962656"/>
            <a:ext cx="1051560" cy="420624"/>
          </a:xfrm>
          <a:prstGeom prst="rect">
            <a:avLst/>
          </a:prstGeom>
          <a:solidFill>
            <a:srgbClr val="E6F0FC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B19015E-4B33-3929-D712-B08CD57E1C68}"/>
              </a:ext>
            </a:extLst>
          </p:cNvPr>
          <p:cNvSpPr/>
          <p:nvPr/>
        </p:nvSpPr>
        <p:spPr>
          <a:xfrm>
            <a:off x="1005840" y="3458718"/>
            <a:ext cx="1051560" cy="420624"/>
          </a:xfrm>
          <a:prstGeom prst="rect">
            <a:avLst/>
          </a:prstGeom>
          <a:solidFill>
            <a:srgbClr val="E6F0FC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4D9A73D-3CE6-FB95-097B-B4659F14046D}"/>
              </a:ext>
            </a:extLst>
          </p:cNvPr>
          <p:cNvSpPr/>
          <p:nvPr/>
        </p:nvSpPr>
        <p:spPr>
          <a:xfrm>
            <a:off x="1005840" y="2444470"/>
            <a:ext cx="1051560" cy="420624"/>
          </a:xfrm>
          <a:prstGeom prst="rect">
            <a:avLst/>
          </a:prstGeom>
          <a:solidFill>
            <a:srgbClr val="E6F0FC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9B94B20-2C5B-4338-AAD8-2659BC3D21CF}"/>
              </a:ext>
            </a:extLst>
          </p:cNvPr>
          <p:cNvSpPr txBox="1"/>
          <p:nvPr/>
        </p:nvSpPr>
        <p:spPr>
          <a:xfrm>
            <a:off x="999061" y="2500893"/>
            <a:ext cx="10515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rPr lang="en-US" dirty="0"/>
              <a:t>30</a:t>
            </a:r>
            <a:endParaRPr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B222D75-90A6-BC9F-F578-8869B8B23BAB}"/>
              </a:ext>
            </a:extLst>
          </p:cNvPr>
          <p:cNvSpPr txBox="1"/>
          <p:nvPr/>
        </p:nvSpPr>
        <p:spPr>
          <a:xfrm>
            <a:off x="995855" y="3028290"/>
            <a:ext cx="10515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rPr lang="en-US" dirty="0"/>
              <a:t>20</a:t>
            </a:r>
            <a:endParaRPr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9A57F15-AF8A-B107-D076-1A1B9A877E8F}"/>
              </a:ext>
            </a:extLst>
          </p:cNvPr>
          <p:cNvSpPr txBox="1"/>
          <p:nvPr/>
        </p:nvSpPr>
        <p:spPr>
          <a:xfrm>
            <a:off x="999061" y="3516586"/>
            <a:ext cx="10515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rPr lang="en-US" dirty="0"/>
              <a:t>1</a:t>
            </a:r>
            <a:r>
              <a:rPr dirty="0"/>
              <a:t>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04 •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9875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What are overflow and underflow?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303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BC4A4A"/>
                </a:solidFill>
                <a:latin typeface="Aptos"/>
              </a:defRPr>
            </a:pPr>
            <a:r>
              <a:t>OVERFLOW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4434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81E28"/>
                </a:solidFill>
                <a:latin typeface="Aptos"/>
              </a:defRPr>
            </a:pPr>
            <a:r>
              <a:t>The stack is full, so another push cannot fit.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2971800"/>
            <a:ext cx="914400" cy="365760"/>
          </a:xfrm>
          <a:prstGeom prst="rect">
            <a:avLst/>
          </a:prstGeom>
          <a:solidFill>
            <a:srgbClr val="F9E8E8"/>
          </a:solidFill>
          <a:ln>
            <a:solidFill>
              <a:srgbClr val="BC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4600" y="297180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81E28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3364992"/>
            <a:ext cx="914400" cy="365760"/>
          </a:xfrm>
          <a:prstGeom prst="rect">
            <a:avLst/>
          </a:prstGeom>
          <a:solidFill>
            <a:srgbClr val="F9E8E8"/>
          </a:solidFill>
          <a:ln>
            <a:solidFill>
              <a:srgbClr val="BC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14600" y="3364992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81E28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3758184"/>
            <a:ext cx="914400" cy="365760"/>
          </a:xfrm>
          <a:prstGeom prst="rect">
            <a:avLst/>
          </a:prstGeom>
          <a:solidFill>
            <a:srgbClr val="F9E8E8"/>
          </a:solidFill>
          <a:ln>
            <a:solidFill>
              <a:srgbClr val="BC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14600" y="3758184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81E28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4151376"/>
            <a:ext cx="914400" cy="365760"/>
          </a:xfrm>
          <a:prstGeom prst="rect">
            <a:avLst/>
          </a:prstGeom>
          <a:solidFill>
            <a:srgbClr val="F9E8E8"/>
          </a:solidFill>
          <a:ln>
            <a:solidFill>
              <a:srgbClr val="BC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14600" y="4151376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81E28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4544568"/>
            <a:ext cx="914400" cy="365760"/>
          </a:xfrm>
          <a:prstGeom prst="rect">
            <a:avLst/>
          </a:prstGeom>
          <a:solidFill>
            <a:srgbClr val="F9E8E8"/>
          </a:solidFill>
          <a:ln>
            <a:solidFill>
              <a:srgbClr val="BC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14600" y="4544568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81E2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166360"/>
            <a:ext cx="4389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BC4A4A"/>
                </a:solidFill>
                <a:latin typeface="Aptos"/>
              </a:defRPr>
            </a:pPr>
            <a:r>
              <a:t>push(60)  →  Stack Overflow!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1554480"/>
            <a:ext cx="5303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18288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4A8967"/>
                </a:solidFill>
                <a:latin typeface="Aptos"/>
              </a:defRPr>
            </a:pPr>
            <a:r>
              <a:t>UNDERFLOW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2331720"/>
            <a:ext cx="4434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81E28"/>
                </a:solidFill>
                <a:latin typeface="Aptos"/>
              </a:defRPr>
            </a:pPr>
            <a:r>
              <a:t>The stack is empty, so there is nothing to remove.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2971800"/>
            <a:ext cx="914400" cy="365760"/>
          </a:xfrm>
          <a:prstGeom prst="rect">
            <a:avLst/>
          </a:prstGeom>
          <a:solidFill>
            <a:srgbClr val="F9F7F2"/>
          </a:solidFill>
          <a:ln>
            <a:solidFill>
              <a:srgbClr val="696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75320" y="3364992"/>
            <a:ext cx="914400" cy="365760"/>
          </a:xfrm>
          <a:prstGeom prst="rect">
            <a:avLst/>
          </a:prstGeom>
          <a:solidFill>
            <a:srgbClr val="F9F7F2"/>
          </a:solidFill>
          <a:ln>
            <a:solidFill>
              <a:srgbClr val="696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75320" y="3758184"/>
            <a:ext cx="914400" cy="365760"/>
          </a:xfrm>
          <a:prstGeom prst="rect">
            <a:avLst/>
          </a:prstGeom>
          <a:solidFill>
            <a:srgbClr val="F9F7F2"/>
          </a:solidFill>
          <a:ln>
            <a:solidFill>
              <a:srgbClr val="696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75320" y="4151376"/>
            <a:ext cx="914400" cy="365760"/>
          </a:xfrm>
          <a:prstGeom prst="rect">
            <a:avLst/>
          </a:prstGeom>
          <a:solidFill>
            <a:srgbClr val="F9F7F2"/>
          </a:solidFill>
          <a:ln>
            <a:solidFill>
              <a:srgbClr val="696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75320" y="4544568"/>
            <a:ext cx="914400" cy="365760"/>
          </a:xfrm>
          <a:prstGeom prst="rect">
            <a:avLst/>
          </a:prstGeom>
          <a:solidFill>
            <a:srgbClr val="F9F7F2"/>
          </a:solidFill>
          <a:ln>
            <a:solidFill>
              <a:srgbClr val="696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20840" y="5166360"/>
            <a:ext cx="4297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4A8967"/>
                </a:solidFill>
                <a:latin typeface="Aptos"/>
              </a:defRPr>
            </a:pPr>
            <a:r>
              <a:t>pop()  →  Stack Underflow!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05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9875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How I built the stack in C++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456991"/>
                </a:solidFill>
                <a:latin typeface="Aptos"/>
              </a:defRPr>
            </a:pPr>
            <a:r>
              <a:t>My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95728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81E28"/>
                </a:solidFill>
                <a:latin typeface="Aptos"/>
              </a:defRPr>
            </a:pPr>
            <a:r>
              <a:t>• Use a static array with 5 spaces.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08376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81E28"/>
                </a:solidFill>
                <a:latin typeface="Aptos"/>
              </a:defRPr>
            </a:pPr>
            <a:r>
              <a:t>• Start top at -1.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21024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81E28"/>
                </a:solidFill>
                <a:latin typeface="Aptos"/>
              </a:defRPr>
            </a:pPr>
            <a:r>
              <a:t>• push() moves top up and stores a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33672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81E28"/>
                </a:solidFill>
                <a:latin typeface="Aptos"/>
              </a:defRPr>
            </a:pPr>
            <a:r>
              <a:t>• pop() removes the current top.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46320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81E28"/>
                </a:solidFill>
                <a:latin typeface="Aptos"/>
              </a:defRPr>
            </a:pPr>
            <a:r>
              <a:t>• Check full/empty before changing the stack.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1554480"/>
            <a:ext cx="6903720" cy="4526280"/>
          </a:xfrm>
          <a:prstGeom prst="roundRect">
            <a:avLst/>
          </a:prstGeom>
          <a:solidFill>
            <a:srgbClr val="181E28"/>
          </a:solidFill>
          <a:ln>
            <a:solidFill>
              <a:srgbClr val="18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0" y="182880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E78433"/>
                </a:solidFill>
                <a:latin typeface="Menlo"/>
              </a:defRPr>
            </a:pPr>
            <a:r>
              <a:t>A key part of the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331720"/>
            <a:ext cx="6126480" cy="3383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enlo"/>
              </a:defRPr>
            </a:pPr>
            <a:r>
              <a:t>int arr[SIZE];</a:t>
            </a:r>
            <a:br/>
            <a:r>
              <a:t>int top = -1;</a:t>
            </a:r>
            <a:br/>
            <a:br/>
            <a:r>
              <a:t>bool isEmpty() {</a:t>
            </a:r>
            <a:br/>
            <a:r>
              <a:t>    return top == -1;</a:t>
            </a:r>
            <a:br/>
            <a:r>
              <a:t>}</a:t>
            </a:r>
            <a:br/>
            <a:br/>
            <a:r>
              <a:t>bool isFull() {</a:t>
            </a:r>
            <a:br/>
            <a:r>
              <a:t>    return top == SIZE - 1;</a:t>
            </a:r>
            <a:br/>
            <a:r>
              <a:t>}</a:t>
            </a:r>
            <a:br/>
            <a:br/>
            <a:r>
              <a:t>void push(int value) {</a:t>
            </a:r>
            <a:br/>
            <a:r>
              <a:t>    if (isFull()) {</a:t>
            </a:r>
            <a:br/>
            <a:r>
              <a:t>        cout &lt;&lt; "Stack Overflow!" &lt;&lt; endl;</a:t>
            </a:r>
            <a:br/>
            <a:r>
              <a:t>        return;</a:t>
            </a:r>
            <a:br/>
            <a:r>
              <a:t>    }</a:t>
            </a:r>
            <a:br/>
            <a:r>
              <a:t>    top++;</a:t>
            </a:r>
            <a:br/>
            <a:r>
              <a:t>    arr[top] = value;</a:t>
            </a:r>
            <a:br/>
            <a: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696712"/>
            <a:ext cx="6035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E78433"/>
                </a:solidFill>
                <a:latin typeface="Aptos"/>
              </a:defRPr>
            </a:pPr>
            <a:r>
              <a:t>Static array implementation • no STL stack used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325880"/>
            <a:ext cx="11201400" cy="4983480"/>
          </a:xfrm>
          <a:prstGeom prst="rect">
            <a:avLst/>
          </a:prstGeom>
          <a:solidFill>
            <a:srgbClr val="F9F7F2"/>
          </a:solidFill>
          <a:ln>
            <a:solidFill>
              <a:srgbClr val="F9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799" y="1404494"/>
            <a:ext cx="3657599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181E28"/>
                </a:solidFill>
                <a:latin typeface="Aptos"/>
              </a:defRPr>
            </a:pPr>
            <a:r>
              <a:rPr dirty="0"/>
              <a:t>My C++</a:t>
            </a:r>
            <a:r>
              <a:rPr lang="en-US" dirty="0"/>
              <a:t> </a:t>
            </a:r>
            <a:r>
              <a:rPr dirty="0"/>
              <a:t>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1" y="1938528"/>
            <a:ext cx="37490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676C74"/>
                </a:solidFill>
                <a:latin typeface="Aptos"/>
              </a:defRPr>
            </a:pPr>
            <a:r>
              <a:rPr dirty="0"/>
              <a:t>I used a static array of 5 spaces and a `top` variable that starts at -1.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6974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E78433"/>
                </a:solidFill>
                <a:latin typeface="Aptos"/>
              </a:defRPr>
            </a:pPr>
            <a:r>
              <a:t>What I coded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090672"/>
            <a:ext cx="3703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81E28"/>
                </a:solidFill>
                <a:latin typeface="Aptos"/>
              </a:defRPr>
            </a:pPr>
            <a:r>
              <a:t>• push() adds a value at the top.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621024"/>
            <a:ext cx="3703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81E28"/>
                </a:solidFill>
                <a:latin typeface="Aptos"/>
              </a:defRPr>
            </a:pPr>
            <a:r>
              <a:t>• pop() removes the current top value.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51376"/>
            <a:ext cx="3703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81E28"/>
                </a:solidFill>
                <a:latin typeface="Aptos"/>
              </a:defRPr>
            </a:pPr>
            <a:r>
              <a:t>• peek() shows the top without removing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681727"/>
            <a:ext cx="3703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81E28"/>
                </a:solidFill>
                <a:latin typeface="Aptos"/>
              </a:defRPr>
            </a:pPr>
            <a:r>
              <a:t>• isFull() and isEmpty() prevent invalid operations.</a:t>
            </a:r>
          </a:p>
        </p:txBody>
      </p:sp>
      <p:pic>
        <p:nvPicPr>
          <p:cNvPr id="27" name="Picture 26" descr="stack_code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205" y="1510867"/>
            <a:ext cx="3316540" cy="413403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55169" y="5703338"/>
            <a:ext cx="6537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76C74"/>
                </a:solidFill>
                <a:latin typeface="Aptos"/>
              </a:defRPr>
            </a:pPr>
            <a:r>
              <a:rPr dirty="0"/>
              <a:t>This is the same code I used for the Terminal test on the next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200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06 • DESIGN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8961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Advantages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578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456991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4526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81E28"/>
                </a:solidFill>
                <a:latin typeface="Aptos"/>
              </a:defRPr>
            </a:pPr>
            <a:r>
              <a:t>• Simple to implement using an array.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4526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81E28"/>
                </a:solidFill>
                <a:latin typeface="Aptos"/>
              </a:defRPr>
            </a:pPr>
            <a:r>
              <a:t>• Push and pop are quick because they work at the top.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4526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81E28"/>
                </a:solidFill>
                <a:latin typeface="Aptos"/>
              </a:defRPr>
            </a:pPr>
            <a:r>
              <a:t>• Contiguous array storage makes the structure straightforward to understand.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91640"/>
            <a:ext cx="52578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196596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BC4A4A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606040"/>
            <a:ext cx="4526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81E28"/>
                </a:solidFill>
                <a:latin typeface="Aptos"/>
              </a:defRPr>
            </a:pPr>
            <a:r>
              <a:t>• The array has a fixed size.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3383280"/>
            <a:ext cx="4526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81E28"/>
                </a:solidFill>
                <a:latin typeface="Aptos"/>
              </a:defRPr>
            </a:pPr>
            <a:r>
              <a:t>• Trying to push when it is full causes overflow.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4160520"/>
            <a:ext cx="4526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81E28"/>
                </a:solidFill>
                <a:latin typeface="Aptos"/>
              </a:defRPr>
            </a:pPr>
            <a:r>
              <a:t>• Unused array positions cannot be expanded automatically.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241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676C74"/>
                </a:solidFill>
                <a:latin typeface="Aptos"/>
              </a:defRPr>
            </a:pPr>
            <a:r>
              <a:t>For my program, the stack size is fixed at 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06 •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9875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My program actually ran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89304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E28"/>
                </a:solidFill>
                <a:latin typeface="Aptos"/>
              </a:defRPr>
            </a:pPr>
            <a:r>
              <a:rPr dirty="0"/>
              <a:t>I tested the stack in Terminal after setting up the C++ compiler.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943600"/>
            <a:ext cx="8503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676C74"/>
                </a:solidFill>
                <a:latin typeface="Aptos"/>
              </a:defRPr>
            </a:pPr>
            <a:r>
              <a:t>The output includes normal operations, overflow, and underflow.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422392"/>
            <a:ext cx="914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456991"/>
                </a:solidFill>
                <a:latin typeface="Aptos"/>
              </a:defRPr>
            </a:pPr>
            <a:r>
              <a:t>LIFO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5422392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E78433"/>
                </a:solidFill>
                <a:latin typeface="Aptos"/>
              </a:defRPr>
            </a:pPr>
            <a:r>
              <a:t>OVERFLOW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5422392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BC4A4A"/>
                </a:solidFill>
                <a:latin typeface="Aptos"/>
              </a:defRPr>
            </a:pPr>
            <a:r>
              <a:t>UNDERFLOW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1005840" y="1572768"/>
            <a:ext cx="10515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81E28"/>
                </a:solidFill>
                <a:latin typeface="Aptos"/>
              </a:defRPr>
            </a:pPr>
            <a:r>
              <a:rPr dirty="0"/>
              <a:t>I tested normal operations first, then deliberately tested a full and empty stack.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025396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E78433"/>
                </a:solidFill>
                <a:latin typeface="Aptos"/>
              </a:defRPr>
            </a:pPr>
            <a:r>
              <a:rPr dirty="0"/>
              <a:t>My actual Terminal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586984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456991"/>
                </a:solidFill>
                <a:latin typeface="Aptos"/>
              </a:defRPr>
            </a:pPr>
            <a:r>
              <a:rPr dirty="0"/>
              <a:t>30 popped first → LIFO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5600700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E78433"/>
                </a:solidFill>
                <a:latin typeface="Aptos"/>
              </a:defRPr>
            </a:pPr>
            <a:r>
              <a:rPr dirty="0"/>
              <a:t>60 pushed → Overflow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5586984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BC4A4A"/>
                </a:solidFill>
                <a:latin typeface="Aptos"/>
              </a:defRPr>
            </a:pPr>
            <a:r>
              <a:rPr dirty="0"/>
              <a:t>extra pop → Underflow</a:t>
            </a:r>
          </a:p>
        </p:txBody>
      </p:sp>
      <p:pic>
        <p:nvPicPr>
          <p:cNvPr id="20" name="Picture 19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A988F2B7-5AEC-9733-4F0B-870E878DC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12" y="2896195"/>
            <a:ext cx="3492500" cy="1790700"/>
          </a:xfrm>
          <a:prstGeom prst="rect">
            <a:avLst/>
          </a:prstGeom>
        </p:spPr>
      </p:pic>
      <p:pic>
        <p:nvPicPr>
          <p:cNvPr id="22" name="Picture 2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9FF4EF0-7A43-8E08-71F9-5EAC6EF61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660" y="3505585"/>
            <a:ext cx="2870200" cy="1028700"/>
          </a:xfrm>
          <a:prstGeom prst="rect">
            <a:avLst/>
          </a:prstGeom>
        </p:spPr>
      </p:pic>
      <p:pic>
        <p:nvPicPr>
          <p:cNvPr id="24" name="Picture 2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00E1384-E0CE-C701-3E75-8AA3618D2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1388" y="2984885"/>
            <a:ext cx="2870200" cy="1549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07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9875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What happened in my test?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72768"/>
            <a:ext cx="548640" cy="548640"/>
          </a:xfrm>
          <a:prstGeom prst="roundRect">
            <a:avLst/>
          </a:prstGeom>
          <a:solidFill>
            <a:srgbClr val="456991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554480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E28"/>
                </a:solidFill>
                <a:latin typeface="Aptos"/>
              </a:defRPr>
            </a:pPr>
            <a:r>
              <a:t>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490472"/>
            <a:ext cx="7955279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676C74"/>
                </a:solidFill>
                <a:latin typeface="Aptos"/>
              </a:defRPr>
            </a:pPr>
            <a:r>
              <a:rPr dirty="0"/>
              <a:t>10, 20, 30 are added.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2139696"/>
            <a:ext cx="32004" cy="530352"/>
          </a:xfrm>
          <a:prstGeom prst="rect">
            <a:avLst/>
          </a:prstGeom>
          <a:solidFill>
            <a:srgbClr val="CDCDC8"/>
          </a:solidFill>
          <a:ln>
            <a:solidFill>
              <a:srgbClr val="CDC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7240" y="2697480"/>
            <a:ext cx="548640" cy="548640"/>
          </a:xfrm>
          <a:prstGeom prst="round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679192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E28"/>
                </a:solidFill>
                <a:latin typeface="Aptos"/>
              </a:defRPr>
            </a:pPr>
            <a:r>
              <a:t>Peek + pop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1" y="2651701"/>
            <a:ext cx="7955279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676C74"/>
                </a:solidFill>
                <a:latin typeface="Aptos"/>
              </a:defRPr>
            </a:pPr>
            <a:r>
              <a:rPr dirty="0"/>
              <a:t>30 is on top, then 30 is removed.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3264408"/>
            <a:ext cx="32004" cy="530352"/>
          </a:xfrm>
          <a:prstGeom prst="rect">
            <a:avLst/>
          </a:prstGeom>
          <a:solidFill>
            <a:srgbClr val="CDCDC8"/>
          </a:solidFill>
          <a:ln>
            <a:solidFill>
              <a:srgbClr val="CDC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7240" y="3822191"/>
            <a:ext cx="548640" cy="548640"/>
          </a:xfrm>
          <a:prstGeom prst="roundRect">
            <a:avLst/>
          </a:prstGeom>
          <a:solidFill>
            <a:srgbClr val="4A8967"/>
          </a:solidFill>
          <a:ln>
            <a:solidFill>
              <a:srgbClr val="4A8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822191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803904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E28"/>
                </a:solidFill>
                <a:latin typeface="Aptos"/>
              </a:defRPr>
            </a:pPr>
            <a:r>
              <a:t>Fill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711513"/>
            <a:ext cx="7955279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676C74"/>
                </a:solidFill>
                <a:latin typeface="Aptos"/>
              </a:defRPr>
            </a:pPr>
            <a:r>
              <a:rPr dirty="0"/>
              <a:t>40 and 50 fill the remaining spaces.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4128" y="4389120"/>
            <a:ext cx="32004" cy="530352"/>
          </a:xfrm>
          <a:prstGeom prst="rect">
            <a:avLst/>
          </a:prstGeom>
          <a:solidFill>
            <a:srgbClr val="CDCDC8"/>
          </a:solidFill>
          <a:ln>
            <a:solidFill>
              <a:srgbClr val="CDC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77240" y="4946904"/>
            <a:ext cx="548640" cy="548640"/>
          </a:xfrm>
          <a:prstGeom prst="roundRect">
            <a:avLst/>
          </a:prstGeom>
          <a:solidFill>
            <a:srgbClr val="BC4A4A"/>
          </a:solidFill>
          <a:ln>
            <a:solidFill>
              <a:srgbClr val="BC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9469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928616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E28"/>
                </a:solidFill>
                <a:latin typeface="Aptos"/>
              </a:defRPr>
            </a:pPr>
            <a:r>
              <a:t>Test errors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2725" y="5121973"/>
            <a:ext cx="7955279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676C74"/>
                </a:solidFill>
                <a:latin typeface="Aptos"/>
              </a:defRPr>
            </a:pPr>
            <a:r>
              <a:rPr dirty="0"/>
              <a:t>An extra push gives Overflow; a final pop gives Underflow.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53631" y="1974515"/>
            <a:ext cx="4006265" cy="73604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31620" y="2114186"/>
            <a:ext cx="4128251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rPr dirty="0"/>
              <a:t>The most recent function call is handled first, then the program returns to the previous call.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64808" y="2455208"/>
            <a:ext cx="4251960" cy="73604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2331720"/>
            <a:ext cx="4251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t>The newest action can be undone first, which follows the LIFO pattern.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92725" y="4183840"/>
            <a:ext cx="3410778" cy="76558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459528" y="4325112"/>
            <a:ext cx="3857708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rPr dirty="0"/>
              <a:t>Stacks can hold intermediate values while an expression is processed.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43766" y="4333196"/>
            <a:ext cx="3726114" cy="72966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37459" y="4477582"/>
            <a:ext cx="3652962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rPr dirty="0"/>
              <a:t>Recent pages can be revisited in reverse order because the latest page is handled first.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08 •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9875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Where can stacks be useful?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572768"/>
            <a:ext cx="73152" cy="1691640"/>
          </a:xfrm>
          <a:prstGeom prst="rect">
            <a:avLst/>
          </a:prstGeom>
          <a:solidFill>
            <a:srgbClr val="456991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801368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E28"/>
                </a:solidFill>
                <a:latin typeface="Aptos"/>
              </a:defRPr>
            </a:pPr>
            <a:r>
              <a:t>Function calls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95728"/>
            <a:ext cx="4343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676C74"/>
                </a:solidFill>
                <a:latin typeface="Aptos"/>
              </a:defRPr>
            </a:pPr>
            <a:r>
              <a:t>Programs keep track of active calls.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72768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572768"/>
            <a:ext cx="73152" cy="1691640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59" y="1801368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E28"/>
                </a:solidFill>
                <a:latin typeface="Aptos"/>
              </a:defRPr>
            </a:pPr>
            <a:r>
              <a:t>Undo / redo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395728"/>
            <a:ext cx="4343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676C74"/>
                </a:solidFill>
                <a:latin typeface="Aptos"/>
              </a:defRPr>
            </a:pPr>
            <a:r>
              <a:t>Recent actions can be reversed.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30168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630168"/>
            <a:ext cx="73152" cy="1691640"/>
          </a:xfrm>
          <a:prstGeom prst="rect">
            <a:avLst/>
          </a:prstGeom>
          <a:solidFill>
            <a:srgbClr val="4A8967"/>
          </a:solidFill>
          <a:ln>
            <a:solidFill>
              <a:srgbClr val="4A8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858768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E28"/>
                </a:solidFill>
                <a:latin typeface="Aptos"/>
              </a:defRPr>
            </a:pPr>
            <a:r>
              <a:t>Expression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53128"/>
            <a:ext cx="4343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676C74"/>
                </a:solidFill>
                <a:latin typeface="Aptos"/>
              </a:defRPr>
            </a:pPr>
            <a:r>
              <a:t>Stacks can help process expressions.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30168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3630168"/>
            <a:ext cx="73152" cy="1691640"/>
          </a:xfrm>
          <a:prstGeom prst="rect">
            <a:avLst/>
          </a:prstGeom>
          <a:solidFill>
            <a:srgbClr val="BC4A4A"/>
          </a:solidFill>
          <a:ln>
            <a:solidFill>
              <a:srgbClr val="BC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59" y="3858768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E28"/>
                </a:solidFill>
                <a:latin typeface="Aptos"/>
              </a:defRPr>
            </a:pPr>
            <a:r>
              <a:t>Browser navigation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453128"/>
            <a:ext cx="4343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676C74"/>
                </a:solidFill>
                <a:latin typeface="Aptos"/>
              </a:defRPr>
            </a:pPr>
            <a:r>
              <a:t>Recent pages can be revisited in reverse order.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09 •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9875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What I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81E28"/>
                </a:solidFill>
                <a:latin typeface="Aptos"/>
              </a:defRPr>
            </a:pPr>
            <a:r>
              <a:t>The code made LIFO easier to understand than just reading the definition.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1143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E78433"/>
                </a:solidFill>
                <a:latin typeface="Aptos"/>
              </a:defRPr>
            </a:pPr>
            <a:r>
              <a:t>LIFO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560320"/>
            <a:ext cx="79552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81E28"/>
                </a:solidFill>
                <a:latin typeface="Aptos"/>
              </a:defRPr>
            </a:pPr>
            <a:r>
              <a:t>The newest item is removed first.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10127"/>
            <a:ext cx="1143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E78433"/>
                </a:solidFill>
                <a:latin typeface="Aptos"/>
              </a:defRPr>
            </a:pPr>
            <a:r>
              <a:t>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3310127"/>
            <a:ext cx="79552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81E28"/>
                </a:solidFill>
                <a:latin typeface="Aptos"/>
              </a:defRPr>
            </a:pPr>
            <a:r>
              <a:t>Push and pop both happen at the top.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59935"/>
            <a:ext cx="1143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E78433"/>
                </a:solidFill>
                <a:latin typeface="Aptos"/>
              </a:defRPr>
            </a:pPr>
            <a:r>
              <a:t>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059935"/>
            <a:ext cx="79552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81E28"/>
                </a:solidFill>
                <a:latin typeface="Aptos"/>
              </a:defRPr>
            </a:pPr>
            <a:r>
              <a:t>A full stack gives overflow; an empty stack gives underflow.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09744"/>
            <a:ext cx="1143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E78433"/>
                </a:solidFill>
                <a:latin typeface="Aptos"/>
              </a:defRPr>
            </a:pPr>
            <a:r>
              <a:t>C++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809744"/>
            <a:ext cx="79552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81E28"/>
                </a:solidFill>
                <a:latin typeface="Aptos"/>
              </a:defRPr>
            </a:pPr>
            <a:r>
              <a:t>A simple array + top variable is enough for this implementation.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325880"/>
            <a:ext cx="11201400" cy="4983480"/>
          </a:xfrm>
          <a:prstGeom prst="rect">
            <a:avLst/>
          </a:prstGeom>
          <a:solidFill>
            <a:srgbClr val="F9F7F2"/>
          </a:solidFill>
          <a:ln>
            <a:solidFill>
              <a:srgbClr val="F9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1572768"/>
            <a:ext cx="71323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181E28"/>
                </a:solidFill>
                <a:latin typeface="Aptos"/>
              </a:defRPr>
            </a:pPr>
            <a:r>
              <a:t>What I understood from this 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240280"/>
            <a:ext cx="9966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181E28"/>
                </a:solidFill>
                <a:latin typeface="Aptos"/>
              </a:defRPr>
            </a:pPr>
            <a:r>
              <a:t>Before writing the program, LIFO was mostly just a definition for me. Testing push and pop made it easier to actually see why the newest value is removed first.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42900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E78433"/>
                </a:solidFill>
                <a:latin typeface="Aptos"/>
              </a:defRPr>
            </a:pPr>
            <a:r>
              <a:t>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4290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676C74"/>
                </a:solidFill>
                <a:latin typeface="Aptos"/>
              </a:defRPr>
            </a:pPr>
            <a:r>
              <a:t>Push and pop both happen at the top.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087368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E78433"/>
                </a:solidFill>
                <a:latin typeface="Aptos"/>
              </a:defRPr>
            </a:pPr>
            <a:r>
              <a:t>ERRORS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087368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676C74"/>
                </a:solidFill>
                <a:latin typeface="Aptos"/>
              </a:defRPr>
            </a:pPr>
            <a:r>
              <a:t>A full stack causes overflow; an empty stack causes underflow.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45736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E78433"/>
                </a:solidFill>
                <a:latin typeface="Aptos"/>
              </a:defRPr>
            </a:pPr>
            <a:r>
              <a:t>C++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745736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676C74"/>
                </a:solidFill>
                <a:latin typeface="Aptos"/>
              </a:defRPr>
            </a:pPr>
            <a:r>
              <a:t>A simple array and top variable were enough for my implementation.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10 •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9875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10607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600200"/>
            <a:ext cx="384048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E7843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64208"/>
            <a:ext cx="4663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81E28"/>
                </a:solidFill>
                <a:latin typeface="Aptos"/>
              </a:defRPr>
            </a:pPr>
            <a:r>
              <a:t>Virginia Tech OpenDSA — Stack Array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20824"/>
            <a:ext cx="795527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76C74"/>
                </a:solidFill>
                <a:latin typeface="Aptos"/>
              </a:defRPr>
            </a:pPr>
            <a:r>
              <a:t>opendsa-server.cs.vt.edu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97480"/>
            <a:ext cx="10607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2697480"/>
            <a:ext cx="384048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E7843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61488"/>
            <a:ext cx="4663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81E28"/>
                </a:solidFill>
                <a:latin typeface="Aptos"/>
              </a:defRPr>
            </a:pPr>
            <a:r>
              <a:t>Virginia Tech OpenDSA — Stack &amp;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118104"/>
            <a:ext cx="795527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76C74"/>
                </a:solidFill>
                <a:latin typeface="Aptos"/>
              </a:defRPr>
            </a:pPr>
            <a:r>
              <a:t>opendsa-server.cs.vt.edu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94760"/>
            <a:ext cx="10607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3794760"/>
            <a:ext cx="384048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E7843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58768"/>
            <a:ext cx="4663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81E28"/>
                </a:solidFill>
                <a:latin typeface="Aptos"/>
              </a:defRPr>
            </a:pPr>
            <a:r>
              <a:t>cppreference — C++ Arrays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215384"/>
            <a:ext cx="795527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76C74"/>
                </a:solidFill>
                <a:latin typeface="Aptos"/>
              </a:defRPr>
            </a:pPr>
            <a:r>
              <a:t>cppreference.com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1856231"/>
            <a:ext cx="89611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6C74"/>
                </a:solidFill>
                <a:latin typeface="Aptos"/>
              </a:defRPr>
            </a:pPr>
            <a:r>
              <a:t>https://opendsa-server.cs.vt.edu/ODSA/Books/CSCI2101/html/StackArray.html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953512"/>
            <a:ext cx="89611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6C74"/>
                </a:solidFill>
                <a:latin typeface="Aptos"/>
              </a:defRPr>
            </a:pPr>
            <a:r>
              <a:t>https://opendsa-server.cs.vt.edu/ODSA/Books/CS3S26slides/html/StackQueue.html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50791"/>
            <a:ext cx="89611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6C74"/>
                </a:solidFill>
                <a:latin typeface="Aptos"/>
              </a:defRPr>
            </a:pPr>
            <a:r>
              <a:t>https://cppreference.com/book/arrays.html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5575</TotalTime>
  <Words>1109</Words>
  <Application>Microsoft Macintosh PowerPoint</Application>
  <PresentationFormat>Widescreen</PresentationFormat>
  <Paragraphs>197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Century Gothic</vt:lpstr>
      <vt:lpstr>Garamond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Desai, Arya Shaileshbhai</cp:lastModifiedBy>
  <cp:revision>3</cp:revision>
  <dcterms:created xsi:type="dcterms:W3CDTF">2013-01-27T09:14:16Z</dcterms:created>
  <dcterms:modified xsi:type="dcterms:W3CDTF">2026-09-22T19:31:20Z</dcterms:modified>
  <cp:category/>
</cp:coreProperties>
</file>